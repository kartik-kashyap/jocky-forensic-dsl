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Interpreter wall-clock (ms)</c:v>
                </c:pt>
              </c:strCache>
            </c:strRef>
          </c:tx>
          <c:spPr>
            <a:solidFill>
              <a:srgbClr val="2E75B6"/>
            </a:solidFill>
          </c:spPr>
          <c:cat>
            <c:strRef>
              <c:f>Sheet1!$A$2:$A$5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25k</c:v>
                </c:pt>
                <c:pt idx="3">
                  <c:v>100k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295.3</c:v>
                </c:pt>
                <c:pt idx="1">
                  <c:v>1018.5</c:v>
                </c:pt>
                <c:pt idx="2">
                  <c:v>6260.1</c:v>
                </c:pt>
                <c:pt idx="3">
                  <c:v>26524.2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 b="1">
                  <a:solidFill>
                    <a:srgbClr val="142B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records / second</c:v>
                </c:pt>
              </c:strCache>
            </c:strRef>
          </c:tx>
          <c:spPr>
            <a:solidFill>
              <a:srgbClr val="2E7D32"/>
            </a:solidFill>
          </c:spPr>
          <c:cat>
            <c:strRef>
              <c:f>Sheet1!$A$2:$A$5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25k</c:v>
                </c:pt>
                <c:pt idx="3">
                  <c:v>100k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5079</c:v>
                </c:pt>
                <c:pt idx="1">
                  <c:v>7363</c:v>
                </c:pt>
                <c:pt idx="2">
                  <c:v>5990</c:v>
                </c:pt>
                <c:pt idx="3">
                  <c:v>5655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700" b="1">
                  <a:solidFill>
                    <a:srgbClr val="142B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C"/>
              </a:solidFill>
            </a:ln>
          </c:spPr>
        </c:majorGridlines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latin typeface="Calibri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× vs hand-written Python</c:v>
                </c:pt>
              </c:strCache>
            </c:strRef>
          </c:tx>
          <c:spPr>
            <a:solidFill>
              <a:srgbClr val="B26A00"/>
            </a:solidFill>
          </c:spPr>
          <c:cat>
            <c:strRef>
              <c:f>Sheet1!$A$2:$A$5</c:f>
              <c:strCache>
                <c:ptCount val="4"/>
                <c:pt idx="0">
                  <c:v>1k</c:v>
                </c:pt>
                <c:pt idx="1">
                  <c:v>5k</c:v>
                </c:pt>
                <c:pt idx="2">
                  <c:v>25k</c:v>
                </c:pt>
                <c:pt idx="3">
                  <c:v>100k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24.5</c:v>
                </c:pt>
                <c:pt idx="1">
                  <c:v>19.5</c:v>
                </c:pt>
                <c:pt idx="2">
                  <c:v>20.4</c:v>
                </c:pt>
                <c:pt idx="3">
                  <c:v>26.3</c:v>
                </c:pt>
              </c:numCache>
            </c:numRef>
          </c:val>
        </c:ser>
        <c:dLbls>
          <c:numFmt formatCode="0.0&quot;×&quot;" sourceLinked="0"/>
          <c:txPr>
            <a:bodyPr/>
            <a:lstStyle/>
            <a:p>
              <a:pPr>
                <a:defRPr sz="700" b="1">
                  <a:solidFill>
                    <a:srgbClr val="142B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DE4EC"/>
              </a:solidFill>
            </a:ln>
          </c:spPr>
        </c:majorGridlines>
        <c:numFmt formatCode="0.0&quot;×&quot;" sourceLinked="0"/>
        <c:majorTickMark val="out"/>
        <c:minorTickMark val="none"/>
        <c:tickLblPos val="nextTo"/>
        <c:txPr>
          <a:bodyPr/>
          <a:lstStyle/>
          <a:p>
            <a:pPr>
              <a:defRPr sz="750"/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750">
          <a:latin typeface="Calibri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chart" Target="../charts/chart1.xml"/><Relationship Id="rId5" Type="http://schemas.openxmlformats.org/officeDocument/2006/relationships/chart" Target="../charts/chart2.xml"/><Relationship Id="rId6" Type="http://schemas.openxmlformats.org/officeDocument/2006/relationships/chart" Target="../charts/chart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329184" y="1298448"/>
            <a:ext cx="8531352" cy="502920"/>
          </a:xfrm>
        </p:spPr>
        <p:txBody>
          <a:bodyPr wrap="square">
            <a:noAutofit/>
          </a:bodyPr>
          <a:lstStyle/>
          <a:p>
            <a:r>
              <a:rPr sz="1400" b="1">
                <a:solidFill>
                  <a:srgbClr val="1F4E79"/>
                </a:solidFill>
                <a:latin typeface="Calibri"/>
              </a:rPr>
              <a:t>JOCKY — a forensic scripting language for computer &amp; network analysis</a:t>
            </a:r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29184" y="1920240"/>
            <a:ext cx="6126480" cy="393192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0" indent="0">
              <a:lnSpc>
                <a:spcPct val="100000"/>
              </a:lnSpc>
              <a:spcAft>
                <a:spcPts val="800"/>
              </a:spcAft>
              <a:buNone/>
            </a:pPr>
            <a:r>
              <a:rPr b="1" sz="1350">
                <a:solidFill>
                  <a:srgbClr val="142B4A"/>
                </a:solidFill>
                <a:latin typeface="Calibri"/>
              </a:rPr>
              <a:t>Problem Statement ID:  </a:t>
            </a:r>
            <a:r>
              <a:rPr sz="1350">
                <a:solidFill>
                  <a:srgbClr val="C0392B"/>
                </a:solidFill>
                <a:latin typeface="Calibri"/>
              </a:rPr>
              <a:t>⟨ fill from portal ⟩</a:t>
            </a:r>
            <a:endParaRPr lang="en-US" dirty="0"/>
          </a:p>
          <a:p>
            <a:pPr marL="0" indent="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b="1" sz="1350">
                <a:solidFill>
                  <a:srgbClr val="142B4A"/>
                </a:solidFill>
                <a:latin typeface="Calibri"/>
              </a:rPr>
              <a:t>Problem Statement Title:  </a:t>
            </a:r>
            <a:r>
              <a:rPr sz="1300">
                <a:solidFill>
                  <a:srgbClr val="1A1A1A"/>
                </a:solidFill>
                <a:latin typeface="Calibri"/>
              </a:rPr>
              <a:t>Creation of scripts/functions with a new programming language to commence computer &amp; network forensic analysis without triggering security solutions</a:t>
            </a:r>
          </a:p>
          <a:p>
            <a:pPr marL="0" indent="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b="1" sz="1350">
                <a:solidFill>
                  <a:srgbClr val="142B4A"/>
                </a:solidFill>
                <a:latin typeface="Calibri"/>
              </a:rPr>
              <a:t>Theme:  </a:t>
            </a:r>
            <a:r>
              <a:rPr sz="1300">
                <a:solidFill>
                  <a:srgbClr val="1A1A1A"/>
                </a:solidFill>
                <a:latin typeface="Calibri"/>
              </a:rPr>
              <a:t>Blockchain &amp; Cybersecurity</a:t>
            </a:r>
          </a:p>
          <a:p>
            <a:pPr marL="0" indent="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b="1" sz="1350">
                <a:solidFill>
                  <a:srgbClr val="142B4A"/>
                </a:solidFill>
                <a:latin typeface="Calibri"/>
              </a:rPr>
              <a:t>PS Category:  </a:t>
            </a:r>
            <a:r>
              <a:rPr sz="1300">
                <a:solidFill>
                  <a:srgbClr val="1A1A1A"/>
                </a:solidFill>
                <a:latin typeface="Calibri"/>
              </a:rPr>
              <a:t>Software</a:t>
            </a:r>
          </a:p>
          <a:p>
            <a:pPr marL="0" indent="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b="1" sz="1350">
                <a:solidFill>
                  <a:srgbClr val="142B4A"/>
                </a:solidFill>
                <a:latin typeface="Calibri"/>
              </a:rPr>
              <a:t>Team ID:  </a:t>
            </a:r>
            <a:r>
              <a:rPr sz="1350">
                <a:solidFill>
                  <a:srgbClr val="C0392B"/>
                </a:solidFill>
                <a:latin typeface="Calibri"/>
              </a:rPr>
              <a:t>148458  ⟨ verify ⟩</a:t>
            </a:r>
          </a:p>
          <a:p>
            <a:pPr marL="0" indent="0" algn="just">
              <a:lnSpc>
                <a:spcPct val="100000"/>
              </a:lnSpc>
              <a:spcAft>
                <a:spcPts val="800"/>
              </a:spcAft>
              <a:buFont typeface="Arial" panose="020B0604020202020204" pitchFamily="34" charset="0"/>
              <a:buNone/>
            </a:pPr>
            <a:r>
              <a:rPr b="1" sz="1350">
                <a:solidFill>
                  <a:srgbClr val="142B4A"/>
                </a:solidFill>
                <a:latin typeface="Calibri"/>
              </a:rPr>
              <a:t>Team Name (Registered on portal):  </a:t>
            </a:r>
            <a:r>
              <a:rPr sz="1300">
                <a:solidFill>
                  <a:srgbClr val="1A1A1A"/>
                </a:solidFill>
                <a:latin typeface="Calibri"/>
              </a:rPr>
              <a:t>Data_Drishti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320040" y="45720"/>
            <a:ext cx="11887200" cy="566928"/>
          </a:xfrm>
        </p:spPr>
        <p:txBody>
          <a:bodyPr wrap="square" anchor="t" lIns="0" tIns="0" bIns="0">
            <a:noAutofit/>
          </a:bodyPr>
          <a:lstStyle/>
          <a:p>
            <a:pPr eaLnBrk="1" hangingPunct="1"/>
            <a:r>
              <a:rPr sz="2800" b="1">
                <a:solidFill>
                  <a:srgbClr val="142B4A"/>
                </a:solidFill>
                <a:latin typeface="Calibri"/>
              </a:rPr>
              <a:t>JOCKY</a:t>
            </a:r>
          </a:p>
          <a:p>
            <a:pPr>
              <a:spcBef>
                <a:spcPts val="100"/>
              </a:spcBef>
            </a:pPr>
            <a:r>
              <a:rPr sz="1050" b="0">
                <a:solidFill>
                  <a:srgbClr val="2E75B6"/>
                </a:solidFill>
                <a:latin typeface="Calibri"/>
              </a:rPr>
              <a:t>one language for host and network forensics — analyse in place, cite every finding, prove the chain of custody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1645920" y="772668"/>
            <a:ext cx="7909560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>
              <a:lnSpc>
                <a:spcPct val="90000"/>
              </a:lnSpc>
              <a:spcAft>
                <a:spcPts val="0"/>
              </a:spcAft>
              <a:buFont typeface="Wingdings" panose="05000000000000000000" pitchFamily="2" charset="2"/>
              <a:buChar char="v"/>
            </a:pPr>
            <a:r>
              <a:rPr sz="600" i="1">
                <a:solidFill>
                  <a:srgbClr val="7A8A99"/>
                </a:solidFill>
                <a:latin typeface="Calibri"/>
              </a:rPr>
              <a:t>Detailed explanation of the proposed solution  ·  How it addresses the problem  ·  Innovation and uniqueness of the solution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sz="900">
                <a:solidFill>
                  <a:srgbClr val="FFFFFF"/>
                </a:solidFill>
                <a:latin typeface="Calibri"/>
              </a:rPr>
              <a:t>@SIH Idea submission – PPT – Team Data_Drishti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Data_Drishti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pic>
        <p:nvPicPr>
          <p:cNvPr id="15363" name="Picture 15362" descr="console-investiga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914400"/>
            <a:ext cx="3017520" cy="1885950"/>
          </a:xfrm>
          <a:prstGeom prst="rect">
            <a:avLst/>
          </a:prstGeom>
        </p:spPr>
      </p:pic>
      <p:sp>
        <p:nvSpPr>
          <p:cNvPr id="15364" name="Rounded Rectangle 15363"/>
          <p:cNvSpPr/>
          <p:nvPr/>
        </p:nvSpPr>
        <p:spPr>
          <a:xfrm>
            <a:off x="274320" y="2807208"/>
            <a:ext cx="3017520" cy="219456"/>
          </a:xfrm>
          <a:prstGeom prst="roundRect">
            <a:avLst>
              <a:gd name="adj" fmla="val 20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5" name="TextBox 15364"/>
          <p:cNvSpPr txBox="1"/>
          <p:nvPr/>
        </p:nvSpPr>
        <p:spPr>
          <a:xfrm>
            <a:off x="320040" y="2816352"/>
            <a:ext cx="292608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00" b="1" i="0">
                <a:solidFill>
                  <a:srgbClr val="FFFFFF"/>
                </a:solidFill>
                <a:latin typeface="Calibri"/>
              </a:rPr>
              <a:t>Operator console — findings cite the query that produced them</a:t>
            </a:r>
          </a:p>
        </p:txBody>
      </p:sp>
      <p:sp>
        <p:nvSpPr>
          <p:cNvPr id="15366" name="Rounded Rectangle 15365"/>
          <p:cNvSpPr/>
          <p:nvPr/>
        </p:nvSpPr>
        <p:spPr>
          <a:xfrm>
            <a:off x="274320" y="3090672"/>
            <a:ext cx="3017520" cy="2944368"/>
          </a:xfrm>
          <a:prstGeom prst="roundRect">
            <a:avLst>
              <a:gd name="adj" fmla="val 6000"/>
            </a:avLst>
          </a:prstGeom>
          <a:solidFill>
            <a:srgbClr val="EFEAF7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7" name="Rounded Rectangle 15366"/>
          <p:cNvSpPr/>
          <p:nvPr/>
        </p:nvSpPr>
        <p:spPr>
          <a:xfrm>
            <a:off x="274320" y="3090672"/>
            <a:ext cx="3017520" cy="274320"/>
          </a:xfrm>
          <a:prstGeom prst="roundRect">
            <a:avLst>
              <a:gd name="adj" fmla="val 1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68" name="TextBox 15367"/>
          <p:cNvSpPr txBox="1"/>
          <p:nvPr/>
        </p:nvSpPr>
        <p:spPr>
          <a:xfrm>
            <a:off x="365760" y="3104388"/>
            <a:ext cx="283463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INNOVATION &amp; UNIQUENESS (UVP)</a:t>
            </a:r>
          </a:p>
        </p:txBody>
      </p:sp>
      <p:sp>
        <p:nvSpPr>
          <p:cNvPr id="15369" name="TextBox 15368"/>
          <p:cNvSpPr txBox="1"/>
          <p:nvPr/>
        </p:nvSpPr>
        <p:spPr>
          <a:xfrm>
            <a:off x="365760" y="3419856"/>
            <a:ext cx="2834640" cy="2560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0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800" b="1" i="0">
                <a:solidFill>
                  <a:srgbClr val="6A4C93"/>
                </a:solidFill>
                <a:latin typeface="Calibri"/>
              </a:rPr>
              <a:t>Findings cannot be uncited. </a:t>
            </a:r>
            <a:r>
              <a:rPr sz="800" b="0" i="0">
                <a:solidFill>
                  <a:srgbClr val="1A1A1A"/>
                </a:solidFill>
                <a:latin typeface="Calibri"/>
              </a:rPr>
              <a:t>A finding must name the result set that raised it — provenance is enforced by the grammar, not by examiner discipline.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0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800" b="1" i="0">
                <a:solidFill>
                  <a:srgbClr val="6A4C93"/>
                </a:solidFill>
                <a:latin typeface="Calibri"/>
              </a:rPr>
              <a:t>Offline and dependency-free. </a:t>
            </a:r>
            <a:r>
              <a:rPr sz="800" b="0" i="0">
                <a:solidFill>
                  <a:srgbClr val="1A1A1A"/>
                </a:solidFill>
                <a:latin typeface="Calibri"/>
              </a:rPr>
              <a:t>Pure Python standard library. Runs on an air-gapped examiner workstation with nothing installed.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0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800" b="1" i="0">
                <a:solidFill>
                  <a:srgbClr val="6A4C93"/>
                </a:solidFill>
                <a:latin typeface="Calibri"/>
              </a:rPr>
              <a:t>Compatible by design, not by stealth. </a:t>
            </a:r>
            <a:r>
              <a:rPr sz="800" b="0" i="0">
                <a:solidFill>
                  <a:srgbClr val="1A1A1A"/>
                </a:solidFill>
                <a:latin typeface="Calibri"/>
              </a:rPr>
              <a:t>Signed reproducible builds with published hashes for vendor allowlisting — no kernel drivers, no injection, no log tampering.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0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800" b="1" i="0">
                <a:solidFill>
                  <a:srgbClr val="6A4C93"/>
                </a:solidFill>
                <a:latin typeface="Calibri"/>
              </a:rPr>
              <a:t>Judge-independent. </a:t>
            </a:r>
            <a:r>
              <a:rPr sz="800" b="0" i="0">
                <a:solidFill>
                  <a:srgbClr val="1A1A1A"/>
                </a:solidFill>
                <a:latin typeface="Calibri"/>
              </a:rPr>
              <a:t>Deterministic execution: the same script over the same digests yields the same findings, byte for byte.</a:t>
            </a:r>
          </a:p>
        </p:txBody>
      </p:sp>
      <p:sp>
        <p:nvSpPr>
          <p:cNvPr id="15370" name="Rounded Rectangle 15369"/>
          <p:cNvSpPr/>
          <p:nvPr/>
        </p:nvSpPr>
        <p:spPr>
          <a:xfrm>
            <a:off x="3419856" y="914400"/>
            <a:ext cx="3785615" cy="2304288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1" name="Rounded Rectangle 15370"/>
          <p:cNvSpPr/>
          <p:nvPr/>
        </p:nvSpPr>
        <p:spPr>
          <a:xfrm>
            <a:off x="3419856" y="914400"/>
            <a:ext cx="3785615" cy="274320"/>
          </a:xfrm>
          <a:prstGeom prst="roundRect">
            <a:avLst>
              <a:gd name="adj" fmla="val 16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2" name="TextBox 15371"/>
          <p:cNvSpPr txBox="1"/>
          <p:nvPr/>
        </p:nvSpPr>
        <p:spPr>
          <a:xfrm>
            <a:off x="3511296" y="928115"/>
            <a:ext cx="3602735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THE PROBLEM IT TACKLES</a:t>
            </a:r>
          </a:p>
        </p:txBody>
      </p:sp>
      <p:sp>
        <p:nvSpPr>
          <p:cNvPr id="15373" name="TextBox 15372"/>
          <p:cNvSpPr txBox="1"/>
          <p:nvPr/>
        </p:nvSpPr>
        <p:spPr>
          <a:xfrm>
            <a:off x="3511296" y="1243584"/>
            <a:ext cx="3602736" cy="19202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19" b="1" i="0">
                <a:solidFill>
                  <a:srgbClr val="B3261E"/>
                </a:solidFill>
                <a:latin typeface="Calibri"/>
              </a:rPr>
              <a:t>▪  </a:t>
            </a:r>
            <a:r>
              <a:rPr sz="819" b="1" i="0">
                <a:solidFill>
                  <a:srgbClr val="B3261E"/>
                </a:solidFill>
                <a:latin typeface="Calibri"/>
              </a:rPr>
              <a:t>Examiners stitch tools together. </a:t>
            </a:r>
            <a:r>
              <a:rPr sz="819" b="0" i="0">
                <a:solidFill>
                  <a:srgbClr val="1A1A1A"/>
                </a:solidFill>
                <a:latin typeface="Calibri"/>
              </a:rPr>
              <a:t>Volatility, plaso, KAPE, Chainsaw and throwaway scripts — every hop loses provenance.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19" b="1" i="0">
                <a:solidFill>
                  <a:srgbClr val="B3261E"/>
                </a:solidFill>
                <a:latin typeface="Calibri"/>
              </a:rPr>
              <a:t>▪  </a:t>
            </a:r>
            <a:r>
              <a:rPr sz="819" b="1" i="0">
                <a:solidFill>
                  <a:srgbClr val="B3261E"/>
                </a:solidFill>
                <a:latin typeface="Calibri"/>
              </a:rPr>
              <a:t>Findings arrive without a citable query. </a:t>
            </a:r>
            <a:r>
              <a:rPr sz="819" b="0" i="0">
                <a:solidFill>
                  <a:srgbClr val="1A1A1A"/>
                </a:solidFill>
                <a:latin typeface="Calibri"/>
              </a:rPr>
              <a:t>Ad-hoc pipelines produce results no one can reproduce or defend on the stand.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19" b="1" i="0">
                <a:solidFill>
                  <a:srgbClr val="B3261E"/>
                </a:solidFill>
                <a:latin typeface="Calibri"/>
              </a:rPr>
              <a:t>▪  </a:t>
            </a:r>
            <a:r>
              <a:rPr sz="819" b="1" i="0">
                <a:solidFill>
                  <a:srgbClr val="B3261E"/>
                </a:solidFill>
                <a:latin typeface="Calibri"/>
              </a:rPr>
              <a:t>Security tooling fights the endpoint. </a:t>
            </a:r>
            <a:r>
              <a:rPr sz="819" b="0" i="0">
                <a:solidFill>
                  <a:srgbClr val="1A1A1A"/>
                </a:solidFill>
                <a:latin typeface="Calibri"/>
              </a:rPr>
              <a:t>Collection and analysis trigger AV/EDR, and the industry habit is to weaken the defence instead of documenting the telemetry.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19" b="1" i="0">
                <a:solidFill>
                  <a:srgbClr val="B3261E"/>
                </a:solidFill>
                <a:latin typeface="Calibri"/>
              </a:rPr>
              <a:t>▪  </a:t>
            </a:r>
            <a:r>
              <a:rPr sz="819" b="1" i="0">
                <a:solidFill>
                  <a:srgbClr val="B3261E"/>
                </a:solidFill>
                <a:latin typeface="Calibri"/>
              </a:rPr>
              <a:t>The tooling becomes the risk. </a:t>
            </a:r>
            <a:r>
              <a:rPr sz="819" b="0" i="0">
                <a:solidFill>
                  <a:srgbClr val="1A1A1A"/>
                </a:solidFill>
                <a:latin typeface="Calibri"/>
              </a:rPr>
              <a:t>Anything that hides from endpoint security is indistinguishable from the intrusion it is meant to investigate — examiners are asked to trade visibility for capability.</a:t>
            </a:r>
          </a:p>
        </p:txBody>
      </p:sp>
      <p:sp>
        <p:nvSpPr>
          <p:cNvPr id="15374" name="Rounded Rectangle 15373"/>
          <p:cNvSpPr/>
          <p:nvPr/>
        </p:nvSpPr>
        <p:spPr>
          <a:xfrm>
            <a:off x="3419856" y="3346704"/>
            <a:ext cx="3785615" cy="2688336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5" name="Rounded Rectangle 15374"/>
          <p:cNvSpPr/>
          <p:nvPr/>
        </p:nvSpPr>
        <p:spPr>
          <a:xfrm>
            <a:off x="3419856" y="3346704"/>
            <a:ext cx="3785615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6" name="TextBox 15375"/>
          <p:cNvSpPr txBox="1"/>
          <p:nvPr/>
        </p:nvSpPr>
        <p:spPr>
          <a:xfrm>
            <a:off x="3511296" y="3360420"/>
            <a:ext cx="3602735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PROPOSED SOLUTION</a:t>
            </a:r>
          </a:p>
        </p:txBody>
      </p:sp>
      <p:sp>
        <p:nvSpPr>
          <p:cNvPr id="15377" name="TextBox 15376"/>
          <p:cNvSpPr txBox="1"/>
          <p:nvPr/>
        </p:nvSpPr>
        <p:spPr>
          <a:xfrm>
            <a:off x="3511296" y="3675888"/>
            <a:ext cx="3602736" cy="23042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19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819" b="1" i="0">
                <a:solidFill>
                  <a:srgbClr val="142B4A"/>
                </a:solidFill>
                <a:latin typeface="Calibri"/>
              </a:rPr>
              <a:t>One language, one evidence model. </a:t>
            </a:r>
            <a:r>
              <a:rPr sz="819" b="0" i="0">
                <a:solidFill>
                  <a:srgbClr val="1A1A1A"/>
                </a:solidFill>
                <a:latin typeface="Calibri"/>
              </a:rPr>
              <a:t>A pipeline DSL — source → |&gt; where |&gt; group by |&gt; sort by — over host events, processes, netflow and CTI feeds alike.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19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819" b="1" i="0">
                <a:solidFill>
                  <a:srgbClr val="142B4A"/>
                </a:solidFill>
                <a:latin typeface="Calibri"/>
              </a:rPr>
              <a:t>Every finding is a citation. </a:t>
            </a:r>
            <a:r>
              <a:rPr sz="819" b="0" i="0">
                <a:solidFill>
                  <a:srgbClr val="1A1A1A"/>
                </a:solidFill>
                <a:latin typeface="Calibri"/>
              </a:rPr>
              <a:t>A finding names the result set and record count behind it; the run logs source and script digests, so the report is reproducible.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19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819" b="1" i="0">
                <a:solidFill>
                  <a:srgbClr val="142B4A"/>
                </a:solidFill>
                <a:latin typeface="Calibri"/>
              </a:rPr>
              <a:t>Runs with the endpoint, not against it. </a:t>
            </a:r>
            <a:r>
              <a:rPr sz="819" b="0" i="0">
                <a:solidFill>
                  <a:srgbClr val="1A1A1A"/>
                </a:solidFill>
                <a:latin typeface="Calibri"/>
              </a:rPr>
              <a:t>Read-only evidence access, loopback-only console, documented telemetry sources, signed builds — no evasion of any kind.</a:t>
            </a:r>
          </a:p>
          <a:p>
            <a:pPr algn="l">
              <a:lnSpc>
                <a:spcPct val="96000"/>
              </a:lnSpc>
              <a:spcAft>
                <a:spcPts val="500"/>
              </a:spcAft>
            </a:pPr>
            <a:r>
              <a:rPr sz="819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819" b="1" i="0">
                <a:solidFill>
                  <a:srgbClr val="142B4A"/>
                </a:solidFill>
                <a:latin typeface="Calibri"/>
              </a:rPr>
              <a:t>Small enough to audit. </a:t>
            </a:r>
            <a:r>
              <a:rPr sz="819" b="0" i="0">
                <a:solidFill>
                  <a:srgbClr val="1A1A1A"/>
                </a:solidFill>
                <a:latin typeface="Calibri"/>
              </a:rPr>
              <a:t>Roughly 2,000 lines of Python across six modules with a 50-test suite — an examiner can read the whole interpreter before deciding to trust it.</a:t>
            </a:r>
          </a:p>
        </p:txBody>
      </p:sp>
      <p:sp>
        <p:nvSpPr>
          <p:cNvPr id="15378" name="Rounded Rectangle 15377"/>
          <p:cNvSpPr/>
          <p:nvPr/>
        </p:nvSpPr>
        <p:spPr>
          <a:xfrm>
            <a:off x="7315200" y="914400"/>
            <a:ext cx="4599432" cy="32186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79" name="Rounded Rectangle 15378"/>
          <p:cNvSpPr/>
          <p:nvPr/>
        </p:nvSpPr>
        <p:spPr>
          <a:xfrm>
            <a:off x="7315200" y="914400"/>
            <a:ext cx="4599432" cy="274320"/>
          </a:xfrm>
          <a:prstGeom prst="roundRect">
            <a:avLst>
              <a:gd name="adj" fmla="val 1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0" name="TextBox 15379"/>
          <p:cNvSpPr txBox="1"/>
          <p:nvPr/>
        </p:nvSpPr>
        <p:spPr>
          <a:xfrm>
            <a:off x="7406640" y="928115"/>
            <a:ext cx="4416552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GRAPHICAL ABSTRACT</a:t>
            </a:r>
          </a:p>
        </p:txBody>
      </p:sp>
      <p:sp>
        <p:nvSpPr>
          <p:cNvPr id="15381" name="Rounded Rectangle 15380"/>
          <p:cNvSpPr/>
          <p:nvPr/>
        </p:nvSpPr>
        <p:spPr>
          <a:xfrm>
            <a:off x="7699248" y="1261872"/>
            <a:ext cx="38313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2" name="TextBox 15381"/>
          <p:cNvSpPr txBox="1"/>
          <p:nvPr/>
        </p:nvSpPr>
        <p:spPr>
          <a:xfrm>
            <a:off x="7735823" y="1289304"/>
            <a:ext cx="3758184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42B4A"/>
                </a:solidFill>
                <a:latin typeface="Calibri"/>
              </a:rPr>
              <a:t>EVIDENCE</a:t>
            </a:r>
          </a:p>
          <a:p>
            <a:pPr algn="ctr">
              <a:lnSpc>
                <a:spcPct val="88000"/>
              </a:lnSpc>
            </a:pPr>
            <a:r>
              <a:rPr sz="620" b="0" i="0">
                <a:solidFill>
                  <a:srgbClr val="536474"/>
                </a:solidFill>
                <a:latin typeface="Calibri"/>
              </a:rPr>
              <a:t>EVTX · JSON · CSV · netflow · CTI feeds — opened read-only, SHA-256 digest taken</a:t>
            </a:r>
          </a:p>
        </p:txBody>
      </p:sp>
      <p:sp>
        <p:nvSpPr>
          <p:cNvPr id="15383" name="Down Arrow 15382"/>
          <p:cNvSpPr/>
          <p:nvPr/>
        </p:nvSpPr>
        <p:spPr>
          <a:xfrm>
            <a:off x="9580626" y="1627631"/>
            <a:ext cx="68580" cy="68580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4" name="Rounded Rectangle 15383"/>
          <p:cNvSpPr/>
          <p:nvPr/>
        </p:nvSpPr>
        <p:spPr>
          <a:xfrm>
            <a:off x="7699248" y="1696212"/>
            <a:ext cx="38313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5" name="TextBox 15384"/>
          <p:cNvSpPr txBox="1"/>
          <p:nvPr/>
        </p:nvSpPr>
        <p:spPr>
          <a:xfrm>
            <a:off x="7735823" y="1723644"/>
            <a:ext cx="3758184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42B4A"/>
                </a:solidFill>
                <a:latin typeface="Calibri"/>
              </a:rPr>
              <a:t>LEXER</a:t>
            </a:r>
          </a:p>
          <a:p>
            <a:pPr algn="ctr">
              <a:lnSpc>
                <a:spcPct val="88000"/>
              </a:lnSpc>
            </a:pPr>
            <a:r>
              <a:rPr sz="620" b="0" i="0">
                <a:solidFill>
                  <a:srgbClr val="536474"/>
                </a:solidFill>
                <a:latin typeface="Calibri"/>
              </a:rPr>
              <a:t>332 tokens · 11 ms — Windows paths, regex and base64 survive verbatim</a:t>
            </a:r>
          </a:p>
        </p:txBody>
      </p:sp>
      <p:sp>
        <p:nvSpPr>
          <p:cNvPr id="15386" name="Down Arrow 15385"/>
          <p:cNvSpPr/>
          <p:nvPr/>
        </p:nvSpPr>
        <p:spPr>
          <a:xfrm>
            <a:off x="9580626" y="2061972"/>
            <a:ext cx="68580" cy="68580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7" name="Rounded Rectangle 15386"/>
          <p:cNvSpPr/>
          <p:nvPr/>
        </p:nvSpPr>
        <p:spPr>
          <a:xfrm>
            <a:off x="7699248" y="2130552"/>
            <a:ext cx="38313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88" name="TextBox 15387"/>
          <p:cNvSpPr txBox="1"/>
          <p:nvPr/>
        </p:nvSpPr>
        <p:spPr>
          <a:xfrm>
            <a:off x="7735823" y="2157984"/>
            <a:ext cx="3758184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42B4A"/>
                </a:solidFill>
                <a:latin typeface="Calibri"/>
              </a:rPr>
              <a:t>PARSER → AST</a:t>
            </a:r>
          </a:p>
          <a:p>
            <a:pPr algn="ctr">
              <a:lnSpc>
                <a:spcPct val="88000"/>
              </a:lnSpc>
            </a:pPr>
            <a:r>
              <a:rPr sz="620" b="0" i="0">
                <a:solidFill>
                  <a:srgbClr val="536474"/>
                </a:solidFill>
                <a:latin typeface="Calibri"/>
              </a:rPr>
              <a:t>101 nodes · plain nested dicts — inspectable and JSON-safe</a:t>
            </a:r>
          </a:p>
        </p:txBody>
      </p:sp>
      <p:sp>
        <p:nvSpPr>
          <p:cNvPr id="15389" name="Down Arrow 15388"/>
          <p:cNvSpPr/>
          <p:nvPr/>
        </p:nvSpPr>
        <p:spPr>
          <a:xfrm>
            <a:off x="9580626" y="2496312"/>
            <a:ext cx="68580" cy="68580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0" name="Rounded Rectangle 15389"/>
          <p:cNvSpPr/>
          <p:nvPr/>
        </p:nvSpPr>
        <p:spPr>
          <a:xfrm>
            <a:off x="7699248" y="2564891"/>
            <a:ext cx="38313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1" name="TextBox 15390"/>
          <p:cNvSpPr txBox="1"/>
          <p:nvPr/>
        </p:nvSpPr>
        <p:spPr>
          <a:xfrm>
            <a:off x="7735823" y="2592323"/>
            <a:ext cx="3758184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42B4A"/>
                </a:solidFill>
                <a:latin typeface="Calibri"/>
              </a:rPr>
              <a:t>INTERPRETER</a:t>
            </a:r>
          </a:p>
          <a:p>
            <a:pPr algn="ctr">
              <a:lnSpc>
                <a:spcPct val="88000"/>
              </a:lnSpc>
            </a:pPr>
            <a:r>
              <a:rPr sz="620" b="0" i="0">
                <a:solidFill>
                  <a:srgbClr val="536474"/>
                </a:solidFill>
                <a:latin typeface="Calibri"/>
              </a:rPr>
              <a:t>pipeline stages · 14 builtins · entropy, hashing, IP classification</a:t>
            </a:r>
          </a:p>
        </p:txBody>
      </p:sp>
      <p:sp>
        <p:nvSpPr>
          <p:cNvPr id="15392" name="Down Arrow 15391"/>
          <p:cNvSpPr/>
          <p:nvPr/>
        </p:nvSpPr>
        <p:spPr>
          <a:xfrm>
            <a:off x="9580626" y="2930651"/>
            <a:ext cx="68580" cy="68580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3" name="Rounded Rectangle 15392"/>
          <p:cNvSpPr/>
          <p:nvPr/>
        </p:nvSpPr>
        <p:spPr>
          <a:xfrm>
            <a:off x="7699248" y="2999232"/>
            <a:ext cx="3831336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4" name="TextBox 15393"/>
          <p:cNvSpPr txBox="1"/>
          <p:nvPr/>
        </p:nvSpPr>
        <p:spPr>
          <a:xfrm>
            <a:off x="7735823" y="3026663"/>
            <a:ext cx="3758184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142B4A"/>
                </a:solidFill>
                <a:latin typeface="Calibri"/>
              </a:rPr>
              <a:t>CORRELATION</a:t>
            </a:r>
          </a:p>
          <a:p>
            <a:pPr algn="ctr">
              <a:lnSpc>
                <a:spcPct val="88000"/>
              </a:lnSpc>
            </a:pPr>
            <a:r>
              <a:rPr sz="620" b="0" i="0">
                <a:solidFill>
                  <a:srgbClr val="536474"/>
                </a:solidFill>
                <a:latin typeface="Calibri"/>
              </a:rPr>
              <a:t>threat-intel match · timeline reconstruction · severity assignment</a:t>
            </a:r>
          </a:p>
        </p:txBody>
      </p:sp>
      <p:sp>
        <p:nvSpPr>
          <p:cNvPr id="15395" name="Down Arrow 15394"/>
          <p:cNvSpPr/>
          <p:nvPr/>
        </p:nvSpPr>
        <p:spPr>
          <a:xfrm>
            <a:off x="9580626" y="3364991"/>
            <a:ext cx="68580" cy="68580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6" name="Rounded Rectangle 15395"/>
          <p:cNvSpPr/>
          <p:nvPr/>
        </p:nvSpPr>
        <p:spPr>
          <a:xfrm>
            <a:off x="7699248" y="3433572"/>
            <a:ext cx="3831336" cy="365760"/>
          </a:xfrm>
          <a:prstGeom prst="roundRect">
            <a:avLst>
              <a:gd name="adj" fmla="val 6000"/>
            </a:avLst>
          </a:prstGeom>
          <a:solidFill>
            <a:srgbClr val="E3F2E4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7" name="TextBox 15396"/>
          <p:cNvSpPr txBox="1"/>
          <p:nvPr/>
        </p:nvSpPr>
        <p:spPr>
          <a:xfrm>
            <a:off x="7735823" y="3461003"/>
            <a:ext cx="3758184" cy="31089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800" b="1" i="0">
                <a:solidFill>
                  <a:srgbClr val="2E7D32"/>
                </a:solidFill>
                <a:latin typeface="Calibri"/>
              </a:rPr>
              <a:t>REPORT</a:t>
            </a:r>
          </a:p>
          <a:p>
            <a:pPr algn="ctr">
              <a:lnSpc>
                <a:spcPct val="88000"/>
              </a:lnSpc>
            </a:pPr>
            <a:r>
              <a:rPr sz="620" b="0" i="0">
                <a:solidFill>
                  <a:srgbClr val="536474"/>
                </a:solidFill>
                <a:latin typeface="Calibri"/>
              </a:rPr>
              <a:t>findings, each citing the result set that raised it</a:t>
            </a:r>
          </a:p>
        </p:txBody>
      </p:sp>
      <p:sp>
        <p:nvSpPr>
          <p:cNvPr id="15398" name="Rounded Rectangle 15397"/>
          <p:cNvSpPr/>
          <p:nvPr/>
        </p:nvSpPr>
        <p:spPr>
          <a:xfrm>
            <a:off x="7406640" y="3904487"/>
            <a:ext cx="4416552" cy="219456"/>
          </a:xfrm>
          <a:prstGeom prst="roundRect">
            <a:avLst>
              <a:gd name="adj" fmla="val 22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399" name="TextBox 15398"/>
          <p:cNvSpPr txBox="1"/>
          <p:nvPr/>
        </p:nvSpPr>
        <p:spPr>
          <a:xfrm>
            <a:off x="7424927" y="3913632"/>
            <a:ext cx="4379976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Calibri"/>
              </a:rPr>
              <a:t>no kernel drivers  ·  no injection  ·  no obfuscation  ·  no log tampering</a:t>
            </a:r>
          </a:p>
        </p:txBody>
      </p:sp>
      <p:sp>
        <p:nvSpPr>
          <p:cNvPr id="15400" name="Rounded Rectangle 15399"/>
          <p:cNvSpPr/>
          <p:nvPr/>
        </p:nvSpPr>
        <p:spPr>
          <a:xfrm>
            <a:off x="7315200" y="4206240"/>
            <a:ext cx="113385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1" name="TextBox 15400"/>
          <p:cNvSpPr txBox="1"/>
          <p:nvPr/>
        </p:nvSpPr>
        <p:spPr>
          <a:xfrm>
            <a:off x="7360920" y="4242816"/>
            <a:ext cx="1042415" cy="49377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11 ms</a:t>
            </a:r>
          </a:p>
          <a:p>
            <a:pPr algn="ctr">
              <a:lnSpc>
                <a:spcPct val="90000"/>
              </a:lnSpc>
            </a:pPr>
            <a:r>
              <a:rPr sz="720" b="0" i="0">
                <a:solidFill>
                  <a:srgbClr val="536474"/>
                </a:solidFill>
                <a:latin typeface="Calibri"/>
              </a:rPr>
              <a:t>first finding
on 45 records</a:t>
            </a:r>
          </a:p>
        </p:txBody>
      </p:sp>
      <p:sp>
        <p:nvSpPr>
          <p:cNvPr id="15402" name="Rounded Rectangle 15401"/>
          <p:cNvSpPr/>
          <p:nvPr/>
        </p:nvSpPr>
        <p:spPr>
          <a:xfrm>
            <a:off x="8545068" y="4206240"/>
            <a:ext cx="108813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3" name="TextBox 15402"/>
          <p:cNvSpPr txBox="1"/>
          <p:nvPr/>
        </p:nvSpPr>
        <p:spPr>
          <a:xfrm>
            <a:off x="8590788" y="4242816"/>
            <a:ext cx="996695" cy="49377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0</a:t>
            </a:r>
          </a:p>
          <a:p>
            <a:pPr algn="ctr">
              <a:lnSpc>
                <a:spcPct val="90000"/>
              </a:lnSpc>
            </a:pPr>
            <a:r>
              <a:rPr sz="720" b="0" i="0">
                <a:solidFill>
                  <a:srgbClr val="536474"/>
                </a:solidFill>
                <a:latin typeface="Calibri"/>
              </a:rPr>
              <a:t>third-party
dependencies</a:t>
            </a:r>
          </a:p>
        </p:txBody>
      </p:sp>
      <p:sp>
        <p:nvSpPr>
          <p:cNvPr id="15404" name="Rounded Rectangle 15403"/>
          <p:cNvSpPr/>
          <p:nvPr/>
        </p:nvSpPr>
        <p:spPr>
          <a:xfrm>
            <a:off x="9729216" y="4206240"/>
            <a:ext cx="113385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5" name="TextBox 15404"/>
          <p:cNvSpPr txBox="1"/>
          <p:nvPr/>
        </p:nvSpPr>
        <p:spPr>
          <a:xfrm>
            <a:off x="9774936" y="4242816"/>
            <a:ext cx="1042415" cy="49377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6 / 6</a:t>
            </a:r>
          </a:p>
          <a:p>
            <a:pPr algn="ctr">
              <a:lnSpc>
                <a:spcPct val="90000"/>
              </a:lnSpc>
            </a:pPr>
            <a:r>
              <a:rPr sz="720" b="0" i="0">
                <a:solidFill>
                  <a:srgbClr val="536474"/>
                </a:solidFill>
                <a:latin typeface="Calibri"/>
              </a:rPr>
              <a:t>findings cite
their query</a:t>
            </a:r>
          </a:p>
        </p:txBody>
      </p:sp>
      <p:sp>
        <p:nvSpPr>
          <p:cNvPr id="15406" name="Rounded Rectangle 15405"/>
          <p:cNvSpPr/>
          <p:nvPr/>
        </p:nvSpPr>
        <p:spPr>
          <a:xfrm>
            <a:off x="10959084" y="4206240"/>
            <a:ext cx="1133856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7" name="TextBox 15406"/>
          <p:cNvSpPr txBox="1"/>
          <p:nvPr/>
        </p:nvSpPr>
        <p:spPr>
          <a:xfrm>
            <a:off x="11004804" y="4242816"/>
            <a:ext cx="1042415" cy="493776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1200" b="1" i="0">
                <a:solidFill>
                  <a:srgbClr val="2E75B6"/>
                </a:solidFill>
                <a:latin typeface="Calibri"/>
              </a:rPr>
              <a:t>127.0.0.1</a:t>
            </a:r>
          </a:p>
          <a:p>
            <a:pPr algn="ctr">
              <a:lnSpc>
                <a:spcPct val="90000"/>
              </a:lnSpc>
            </a:pPr>
            <a:r>
              <a:rPr sz="720" b="0" i="0">
                <a:solidFill>
                  <a:srgbClr val="536474"/>
                </a:solidFill>
                <a:latin typeface="Calibri"/>
              </a:rPr>
              <a:t>console binds
loopback only</a:t>
            </a:r>
          </a:p>
        </p:txBody>
      </p:sp>
      <p:sp>
        <p:nvSpPr>
          <p:cNvPr id="15408" name="Rounded Rectangle 15407"/>
          <p:cNvSpPr/>
          <p:nvPr/>
        </p:nvSpPr>
        <p:spPr>
          <a:xfrm>
            <a:off x="7315200" y="4828032"/>
            <a:ext cx="4599432" cy="1207008"/>
          </a:xfrm>
          <a:prstGeom prst="roundRect">
            <a:avLst>
              <a:gd name="adj" fmla="val 6000"/>
            </a:avLst>
          </a:prstGeom>
          <a:solidFill>
            <a:srgbClr val="E4F2F1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09" name="Rounded Rectangle 15408"/>
          <p:cNvSpPr/>
          <p:nvPr/>
        </p:nvSpPr>
        <p:spPr>
          <a:xfrm>
            <a:off x="7315200" y="4828032"/>
            <a:ext cx="4599432" cy="274320"/>
          </a:xfrm>
          <a:prstGeom prst="roundRect">
            <a:avLst>
              <a:gd name="adj" fmla="val 16000"/>
            </a:avLst>
          </a:prstGeom>
          <a:solidFill>
            <a:srgbClr val="0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410" name="TextBox 15409"/>
          <p:cNvSpPr txBox="1"/>
          <p:nvPr/>
        </p:nvSpPr>
        <p:spPr>
          <a:xfrm>
            <a:off x="7406640" y="4841748"/>
            <a:ext cx="4416552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WHY IT IS DIFFERENT</a:t>
            </a:r>
          </a:p>
        </p:txBody>
      </p:sp>
      <p:sp>
        <p:nvSpPr>
          <p:cNvPr id="15411" name="TextBox 15410"/>
          <p:cNvSpPr txBox="1"/>
          <p:nvPr/>
        </p:nvSpPr>
        <p:spPr>
          <a:xfrm>
            <a:off x="7406640" y="5157216"/>
            <a:ext cx="4416552" cy="84124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400"/>
              </a:spcAft>
            </a:pPr>
            <a:r>
              <a:rPr sz="780" b="1" i="0">
                <a:solidFill>
                  <a:srgbClr val="006A6A"/>
                </a:solidFill>
                <a:latin typeface="Calibri"/>
              </a:rPr>
              <a:t>▪  </a:t>
            </a:r>
            <a:r>
              <a:rPr sz="780" b="1" i="0">
                <a:solidFill>
                  <a:srgbClr val="006A6A"/>
                </a:solidFill>
                <a:latin typeface="Calibri"/>
              </a:rPr>
              <a:t>Sigma detects, VQL queries — neither makes a finding citable. </a:t>
            </a:r>
            <a:r>
              <a:rPr sz="780" b="0" i="0">
                <a:solidFill>
                  <a:srgbClr val="1A1A1A"/>
                </a:solidFill>
                <a:latin typeface="Calibri"/>
              </a:rPr>
              <a:t>JOCKY's grammar refuses a finding that does not name its source.</a:t>
            </a:r>
          </a:p>
          <a:p>
            <a:pPr algn="l">
              <a:lnSpc>
                <a:spcPct val="96000"/>
              </a:lnSpc>
              <a:spcAft>
                <a:spcPts val="400"/>
              </a:spcAft>
            </a:pPr>
            <a:r>
              <a:rPr sz="780" b="1" i="0">
                <a:solidFill>
                  <a:srgbClr val="006A6A"/>
                </a:solidFill>
                <a:latin typeface="Calibri"/>
              </a:rPr>
              <a:t>▪  </a:t>
            </a:r>
            <a:r>
              <a:rPr sz="780" b="1" i="0">
                <a:solidFill>
                  <a:srgbClr val="006A6A"/>
                </a:solidFill>
                <a:latin typeface="Calibri"/>
              </a:rPr>
              <a:t>A DSL is a contract. </a:t>
            </a:r>
            <a:r>
              <a:rPr sz="780" b="0" i="0">
                <a:solidFill>
                  <a:srgbClr val="1A1A1A"/>
                </a:solidFill>
                <a:latin typeface="Calibri"/>
              </a:rPr>
              <a:t>Scripts become reviewable, versionable artefacts that transfer between examiners and agencies.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0040" y="274320"/>
            <a:ext cx="11887200" cy="384048"/>
          </a:xfrm>
        </p:spPr>
        <p:txBody>
          <a:bodyPr wrap="square" anchor="t" lIns="0" tIns="0" bIns="0">
            <a:noAutofit/>
          </a:bodyPr>
          <a:lstStyle/>
          <a:p>
            <a:pPr eaLnBrk="1" hangingPunct="1"/>
            <a:r>
              <a:rPr sz="2600" b="1">
                <a:solidFill>
                  <a:srgbClr val="142B4A"/>
                </a:solidFill>
                <a:latin typeface="Calibri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45920" y="772668"/>
            <a:ext cx="7909560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indent="-342900" algn="just">
              <a:lnSpc>
                <a:spcPct val="9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600" i="1">
                <a:solidFill>
                  <a:srgbClr val="7A8A99"/>
                </a:solidFill>
                <a:latin typeface="Calibri"/>
              </a:rPr>
              <a:t>Technologies to be used (languages, frameworks, hardware)  ·  Methodology and process for implementation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sz="900">
                <a:solidFill>
                  <a:srgbClr val="FFFFFF"/>
                </a:solidFill>
                <a:latin typeface="Calibri"/>
              </a:rPr>
              <a:t>@SIH Idea submission – PPT – Team Data_Drishti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Data_Drishti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74320" y="914400"/>
            <a:ext cx="5532120" cy="230428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74320" y="914400"/>
            <a:ext cx="5532120" cy="274320"/>
          </a:xfrm>
          <a:prstGeom prst="roundRect">
            <a:avLst>
              <a:gd name="adj" fmla="val 1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928115"/>
            <a:ext cx="53492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LAYERED ARCHITECTURE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47472" y="1261872"/>
            <a:ext cx="5385816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Rounded Rectangle 17414"/>
          <p:cNvSpPr/>
          <p:nvPr/>
        </p:nvSpPr>
        <p:spPr>
          <a:xfrm>
            <a:off x="347472" y="1261872"/>
            <a:ext cx="64008" cy="34290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TextBox 17415"/>
          <p:cNvSpPr txBox="1"/>
          <p:nvPr/>
        </p:nvSpPr>
        <p:spPr>
          <a:xfrm>
            <a:off x="457200" y="1271016"/>
            <a:ext cx="1152144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819" b="1" i="0">
                <a:solidFill>
                  <a:srgbClr val="2E75B6"/>
                </a:solidFill>
                <a:latin typeface="Calibri"/>
              </a:rPr>
              <a:t>Presentation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1627632" y="1271016"/>
            <a:ext cx="4069079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760" b="0" i="0">
                <a:solidFill>
                  <a:srgbClr val="1A1A1A"/>
                </a:solidFill>
                <a:latin typeface="Calibri"/>
              </a:rPr>
              <a:t>Operator console — one HTML file, 7 tabs, deep-linkable, Ctrl+Enter to run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47472" y="1641348"/>
            <a:ext cx="5385816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1F4E7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Rounded Rectangle 17418"/>
          <p:cNvSpPr/>
          <p:nvPr/>
        </p:nvSpPr>
        <p:spPr>
          <a:xfrm>
            <a:off x="347472" y="1641348"/>
            <a:ext cx="64008" cy="342900"/>
          </a:xfrm>
          <a:prstGeom prst="roundRect">
            <a:avLst>
              <a:gd name="adj" fmla="val 30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0" name="TextBox 17419"/>
          <p:cNvSpPr txBox="1"/>
          <p:nvPr/>
        </p:nvSpPr>
        <p:spPr>
          <a:xfrm>
            <a:off x="457200" y="1650492"/>
            <a:ext cx="1152144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819" b="1" i="0">
                <a:solidFill>
                  <a:srgbClr val="1F4E79"/>
                </a:solidFill>
                <a:latin typeface="Calibri"/>
              </a:rPr>
              <a:t>Service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1627632" y="1650492"/>
            <a:ext cx="4069079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760" b="0" i="0">
                <a:solidFill>
                  <a:srgbClr val="1A1A1A"/>
                </a:solidFill>
                <a:latin typeface="Calibri"/>
              </a:rPr>
              <a:t>serve.py — loopback API (/api/state, /run, /compile), client-address check, path-traversal guard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47472" y="2020824"/>
            <a:ext cx="5385816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6A4C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347472" y="2020824"/>
            <a:ext cx="64008" cy="34290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57200" y="2029967"/>
            <a:ext cx="1152144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819" b="1" i="0">
                <a:solidFill>
                  <a:srgbClr val="6A4C93"/>
                </a:solidFill>
                <a:latin typeface="Calibri"/>
              </a:rPr>
              <a:t>Language core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627632" y="2029967"/>
            <a:ext cx="4069079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760" b="0" i="0">
                <a:solidFill>
                  <a:srgbClr val="1A1A1A"/>
                </a:solidFill>
                <a:latin typeface="Calibri"/>
              </a:rPr>
              <a:t>lexer → parser → interpreter · AST as plain nested dicts · 11 ms for a 332-token script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47472" y="2400300"/>
            <a:ext cx="5385816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347472" y="2400300"/>
            <a:ext cx="64008" cy="342900"/>
          </a:xfrm>
          <a:prstGeom prst="roundRect">
            <a:avLst>
              <a:gd name="adj" fmla="val 30000"/>
            </a:avLst>
          </a:prstGeom>
          <a:solidFill>
            <a:srgbClr val="0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457200" y="2409444"/>
            <a:ext cx="1152144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819" b="1" i="0">
                <a:solidFill>
                  <a:srgbClr val="006A6A"/>
                </a:solidFill>
                <a:latin typeface="Calibri"/>
              </a:rPr>
              <a:t>Primitives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1627632" y="2409444"/>
            <a:ext cx="4069079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760" b="0" i="0">
                <a:solidFill>
                  <a:srgbClr val="1A1A1A"/>
                </a:solidFill>
                <a:latin typeface="Calibri"/>
              </a:rPr>
              <a:t>14 builtins — entropy, sha256, md5, is_public_ip, age_minutes, regex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47472" y="2779776"/>
            <a:ext cx="5385816" cy="3429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Rounded Rectangle 17430"/>
          <p:cNvSpPr/>
          <p:nvPr/>
        </p:nvSpPr>
        <p:spPr>
          <a:xfrm>
            <a:off x="347472" y="2779776"/>
            <a:ext cx="64008" cy="342900"/>
          </a:xfrm>
          <a:prstGeom prst="roundRect">
            <a:avLst>
              <a:gd name="adj" fmla="val 3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2" name="TextBox 17431"/>
          <p:cNvSpPr txBox="1"/>
          <p:nvPr/>
        </p:nvSpPr>
        <p:spPr>
          <a:xfrm>
            <a:off x="457200" y="2788920"/>
            <a:ext cx="1152144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819" b="1" i="0">
                <a:solidFill>
                  <a:srgbClr val="2E7D32"/>
                </a:solidFill>
                <a:latin typeface="Calibri"/>
              </a:rPr>
              <a:t>Evidence adapters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1627632" y="2788920"/>
            <a:ext cx="4069079" cy="32461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760" b="0" i="0">
                <a:solidFill>
                  <a:srgbClr val="1A1A1A"/>
                </a:solidFill>
                <a:latin typeface="Calibri"/>
              </a:rPr>
              <a:t>JSON · CSV · line-based CTI — read-only, digested at open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5925312" y="914400"/>
            <a:ext cx="5989320" cy="230428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5" name="Rounded Rectangle 17434"/>
          <p:cNvSpPr/>
          <p:nvPr/>
        </p:nvSpPr>
        <p:spPr>
          <a:xfrm>
            <a:off x="5925312" y="914400"/>
            <a:ext cx="5989320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6" name="TextBox 17435"/>
          <p:cNvSpPr txBox="1"/>
          <p:nvPr/>
        </p:nvSpPr>
        <p:spPr>
          <a:xfrm>
            <a:off x="6016752" y="928115"/>
            <a:ext cx="58064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METHODOLOGY — DATA FLOW</a:t>
            </a:r>
          </a:p>
        </p:txBody>
      </p:sp>
      <p:sp>
        <p:nvSpPr>
          <p:cNvPr id="17437" name="Rounded Rectangle 17436"/>
          <p:cNvSpPr/>
          <p:nvPr/>
        </p:nvSpPr>
        <p:spPr>
          <a:xfrm>
            <a:off x="6016752" y="1280160"/>
            <a:ext cx="137617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Rounded Rectangle 17437"/>
          <p:cNvSpPr/>
          <p:nvPr/>
        </p:nvSpPr>
        <p:spPr>
          <a:xfrm>
            <a:off x="6016752" y="1280160"/>
            <a:ext cx="1376172" cy="146304"/>
          </a:xfrm>
          <a:prstGeom prst="roundRect">
            <a:avLst>
              <a:gd name="adj" fmla="val 3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6016752" y="1275588"/>
            <a:ext cx="1376172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053328" y="1435607"/>
            <a:ext cx="1303019" cy="530352"/>
          </a:xfrm>
          <a:prstGeom prst="rect">
            <a:avLst/>
          </a:prstGeom>
          <a:noFill/>
        </p:spPr>
        <p:txBody>
          <a:bodyPr wrap="square" anchor="t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Open &amp; digest</a:t>
            </a:r>
          </a:p>
          <a:p>
            <a:pPr algn="ctr">
              <a:lnSpc>
                <a:spcPct val="88000"/>
              </a:lnSpc>
            </a:pPr>
            <a:r>
              <a:rPr sz="640" b="0" i="0">
                <a:solidFill>
                  <a:srgbClr val="536474"/>
                </a:solidFill>
                <a:latin typeface="Calibri"/>
              </a:rPr>
              <a:t>SHA-256 per file, read-only</a:t>
            </a:r>
          </a:p>
        </p:txBody>
      </p:sp>
      <p:sp>
        <p:nvSpPr>
          <p:cNvPr id="17441" name="Rounded Rectangle 17440"/>
          <p:cNvSpPr/>
          <p:nvPr/>
        </p:nvSpPr>
        <p:spPr>
          <a:xfrm>
            <a:off x="7470648" y="1280160"/>
            <a:ext cx="137617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2" name="Rounded Rectangle 17441"/>
          <p:cNvSpPr/>
          <p:nvPr/>
        </p:nvSpPr>
        <p:spPr>
          <a:xfrm>
            <a:off x="7470648" y="1280160"/>
            <a:ext cx="1376172" cy="146304"/>
          </a:xfrm>
          <a:prstGeom prst="roundRect">
            <a:avLst>
              <a:gd name="adj" fmla="val 3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7470648" y="1275588"/>
            <a:ext cx="1376172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7507223" y="1435607"/>
            <a:ext cx="1303019" cy="530352"/>
          </a:xfrm>
          <a:prstGeom prst="rect">
            <a:avLst/>
          </a:prstGeom>
          <a:noFill/>
        </p:spPr>
        <p:txBody>
          <a:bodyPr wrap="square" anchor="t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Tokenise</a:t>
            </a:r>
          </a:p>
          <a:p>
            <a:pPr algn="ctr">
              <a:lnSpc>
                <a:spcPct val="88000"/>
              </a:lnSpc>
            </a:pPr>
            <a:r>
              <a:rPr sz="640" b="0" i="0">
                <a:solidFill>
                  <a:srgbClr val="536474"/>
                </a:solidFill>
                <a:latin typeface="Calibri"/>
              </a:rPr>
              <a:t>strings survive verbatim</a:t>
            </a:r>
          </a:p>
        </p:txBody>
      </p:sp>
      <p:sp>
        <p:nvSpPr>
          <p:cNvPr id="17445" name="Rounded Rectangle 17444"/>
          <p:cNvSpPr/>
          <p:nvPr/>
        </p:nvSpPr>
        <p:spPr>
          <a:xfrm>
            <a:off x="8924544" y="1280160"/>
            <a:ext cx="137617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6" name="Rounded Rectangle 17445"/>
          <p:cNvSpPr/>
          <p:nvPr/>
        </p:nvSpPr>
        <p:spPr>
          <a:xfrm>
            <a:off x="8924544" y="1280160"/>
            <a:ext cx="1376172" cy="146304"/>
          </a:xfrm>
          <a:prstGeom prst="roundRect">
            <a:avLst>
              <a:gd name="adj" fmla="val 3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8924544" y="1275588"/>
            <a:ext cx="1376172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8961119" y="1435607"/>
            <a:ext cx="1303019" cy="530352"/>
          </a:xfrm>
          <a:prstGeom prst="rect">
            <a:avLst/>
          </a:prstGeom>
          <a:noFill/>
        </p:spPr>
        <p:txBody>
          <a:bodyPr wrap="square" anchor="t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Parse</a:t>
            </a:r>
          </a:p>
          <a:p>
            <a:pPr algn="ctr">
              <a:lnSpc>
                <a:spcPct val="88000"/>
              </a:lnSpc>
            </a:pPr>
            <a:r>
              <a:rPr sz="640" b="0" i="0">
                <a:solidFill>
                  <a:srgbClr val="536474"/>
                </a:solidFill>
                <a:latin typeface="Calibri"/>
              </a:rPr>
              <a:t>recursive descent → AST</a:t>
            </a:r>
          </a:p>
        </p:txBody>
      </p:sp>
      <p:sp>
        <p:nvSpPr>
          <p:cNvPr id="17449" name="Rounded Rectangle 17448"/>
          <p:cNvSpPr/>
          <p:nvPr/>
        </p:nvSpPr>
        <p:spPr>
          <a:xfrm>
            <a:off x="10378440" y="1280160"/>
            <a:ext cx="137617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0" name="Rounded Rectangle 17449"/>
          <p:cNvSpPr/>
          <p:nvPr/>
        </p:nvSpPr>
        <p:spPr>
          <a:xfrm>
            <a:off x="10378440" y="1280160"/>
            <a:ext cx="1376172" cy="146304"/>
          </a:xfrm>
          <a:prstGeom prst="roundRect">
            <a:avLst>
              <a:gd name="adj" fmla="val 3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10378440" y="1275588"/>
            <a:ext cx="1376172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10415015" y="1435607"/>
            <a:ext cx="1303019" cy="530352"/>
          </a:xfrm>
          <a:prstGeom prst="rect">
            <a:avLst/>
          </a:prstGeom>
          <a:noFill/>
        </p:spPr>
        <p:txBody>
          <a:bodyPr wrap="square" anchor="t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Bind</a:t>
            </a:r>
          </a:p>
          <a:p>
            <a:pPr algn="ctr">
              <a:lnSpc>
                <a:spcPct val="88000"/>
              </a:lnSpc>
            </a:pPr>
            <a:r>
              <a:rPr sz="640" b="0" i="0">
                <a:solidFill>
                  <a:srgbClr val="536474"/>
                </a:solidFill>
                <a:latin typeface="Calibri"/>
              </a:rPr>
              <a:t>sources resolved, lint-checked</a:t>
            </a:r>
          </a:p>
        </p:txBody>
      </p:sp>
      <p:sp>
        <p:nvSpPr>
          <p:cNvPr id="17453" name="Rounded Rectangle 17452"/>
          <p:cNvSpPr/>
          <p:nvPr/>
        </p:nvSpPr>
        <p:spPr>
          <a:xfrm>
            <a:off x="10378440" y="2176272"/>
            <a:ext cx="137617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4" name="Rounded Rectangle 17453"/>
          <p:cNvSpPr/>
          <p:nvPr/>
        </p:nvSpPr>
        <p:spPr>
          <a:xfrm>
            <a:off x="10378440" y="2176272"/>
            <a:ext cx="1376172" cy="146304"/>
          </a:xfrm>
          <a:prstGeom prst="roundRect">
            <a:avLst>
              <a:gd name="adj" fmla="val 3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10378440" y="2171700"/>
            <a:ext cx="1376172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STEP 5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10415015" y="2331720"/>
            <a:ext cx="1303019" cy="530352"/>
          </a:xfrm>
          <a:prstGeom prst="rect">
            <a:avLst/>
          </a:prstGeom>
          <a:noFill/>
        </p:spPr>
        <p:txBody>
          <a:bodyPr wrap="square" anchor="t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Execute</a:t>
            </a:r>
          </a:p>
          <a:p>
            <a:pPr algn="ctr">
              <a:lnSpc>
                <a:spcPct val="88000"/>
              </a:lnSpc>
            </a:pPr>
            <a:r>
              <a:rPr sz="640" b="0" i="0">
                <a:solidFill>
                  <a:srgbClr val="536474"/>
                </a:solidFill>
                <a:latin typeface="Calibri"/>
              </a:rPr>
              <a:t>pipeline stages, lazy rows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924544" y="2176272"/>
            <a:ext cx="137617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8" name="Rounded Rectangle 17457"/>
          <p:cNvSpPr/>
          <p:nvPr/>
        </p:nvSpPr>
        <p:spPr>
          <a:xfrm>
            <a:off x="8924544" y="2176272"/>
            <a:ext cx="1376172" cy="146304"/>
          </a:xfrm>
          <a:prstGeom prst="roundRect">
            <a:avLst>
              <a:gd name="adj" fmla="val 3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8924544" y="2171700"/>
            <a:ext cx="1376172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STEP 6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8961119" y="2331720"/>
            <a:ext cx="1303019" cy="530352"/>
          </a:xfrm>
          <a:prstGeom prst="rect">
            <a:avLst/>
          </a:prstGeom>
          <a:noFill/>
        </p:spPr>
        <p:txBody>
          <a:bodyPr wrap="square" anchor="t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Correlate</a:t>
            </a:r>
          </a:p>
          <a:p>
            <a:pPr algn="ctr">
              <a:lnSpc>
                <a:spcPct val="88000"/>
              </a:lnSpc>
            </a:pPr>
            <a:r>
              <a:rPr sz="640" b="0" i="0">
                <a:solidFill>
                  <a:srgbClr val="536474"/>
                </a:solidFill>
                <a:latin typeface="Calibri"/>
              </a:rPr>
              <a:t>CTI match, group, sort</a:t>
            </a:r>
          </a:p>
        </p:txBody>
      </p:sp>
      <p:sp>
        <p:nvSpPr>
          <p:cNvPr id="17461" name="Rounded Rectangle 17460"/>
          <p:cNvSpPr/>
          <p:nvPr/>
        </p:nvSpPr>
        <p:spPr>
          <a:xfrm>
            <a:off x="7470648" y="2176272"/>
            <a:ext cx="137617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2" name="Rounded Rectangle 17461"/>
          <p:cNvSpPr/>
          <p:nvPr/>
        </p:nvSpPr>
        <p:spPr>
          <a:xfrm>
            <a:off x="7470648" y="2176272"/>
            <a:ext cx="1376172" cy="146304"/>
          </a:xfrm>
          <a:prstGeom prst="roundRect">
            <a:avLst>
              <a:gd name="adj" fmla="val 3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3" name="TextBox 17462"/>
          <p:cNvSpPr txBox="1"/>
          <p:nvPr/>
        </p:nvSpPr>
        <p:spPr>
          <a:xfrm>
            <a:off x="7470648" y="2171700"/>
            <a:ext cx="1376172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STEP 7</a:t>
            </a:r>
          </a:p>
        </p:txBody>
      </p:sp>
      <p:sp>
        <p:nvSpPr>
          <p:cNvPr id="17464" name="TextBox 17463"/>
          <p:cNvSpPr txBox="1"/>
          <p:nvPr/>
        </p:nvSpPr>
        <p:spPr>
          <a:xfrm>
            <a:off x="7507223" y="2331720"/>
            <a:ext cx="1303019" cy="530352"/>
          </a:xfrm>
          <a:prstGeom prst="rect">
            <a:avLst/>
          </a:prstGeom>
          <a:noFill/>
        </p:spPr>
        <p:txBody>
          <a:bodyPr wrap="square" anchor="t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Narrate</a:t>
            </a:r>
          </a:p>
          <a:p>
            <a:pPr algn="ctr">
              <a:lnSpc>
                <a:spcPct val="88000"/>
              </a:lnSpc>
            </a:pPr>
            <a:r>
              <a:rPr sz="640" b="0" i="0">
                <a:solidFill>
                  <a:srgbClr val="536474"/>
                </a:solidFill>
                <a:latin typeface="Calibri"/>
              </a:rPr>
              <a:t>timeline on timestamp</a:t>
            </a:r>
          </a:p>
        </p:txBody>
      </p:sp>
      <p:sp>
        <p:nvSpPr>
          <p:cNvPr id="17465" name="Rounded Rectangle 17464"/>
          <p:cNvSpPr/>
          <p:nvPr/>
        </p:nvSpPr>
        <p:spPr>
          <a:xfrm>
            <a:off x="6016752" y="2176272"/>
            <a:ext cx="1376172" cy="7132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6" name="Rounded Rectangle 17465"/>
          <p:cNvSpPr/>
          <p:nvPr/>
        </p:nvSpPr>
        <p:spPr>
          <a:xfrm>
            <a:off x="6016752" y="2176272"/>
            <a:ext cx="1376172" cy="146304"/>
          </a:xfrm>
          <a:prstGeom prst="roundRect">
            <a:avLst>
              <a:gd name="adj" fmla="val 34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7" name="TextBox 17466"/>
          <p:cNvSpPr txBox="1"/>
          <p:nvPr/>
        </p:nvSpPr>
        <p:spPr>
          <a:xfrm>
            <a:off x="6016752" y="2171700"/>
            <a:ext cx="1376172" cy="15544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600" b="1" i="0">
                <a:solidFill>
                  <a:srgbClr val="FFFFFF"/>
                </a:solidFill>
                <a:latin typeface="Calibri"/>
              </a:rPr>
              <a:t>STEP 8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053328" y="2331720"/>
            <a:ext cx="1303019" cy="530352"/>
          </a:xfrm>
          <a:prstGeom prst="rect">
            <a:avLst/>
          </a:prstGeom>
          <a:noFill/>
        </p:spPr>
        <p:txBody>
          <a:bodyPr wrap="square" anchor="t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Report</a:t>
            </a:r>
          </a:p>
          <a:p>
            <a:pPr algn="ctr">
              <a:lnSpc>
                <a:spcPct val="88000"/>
              </a:lnSpc>
            </a:pPr>
            <a:r>
              <a:rPr sz="640" b="0" i="0">
                <a:solidFill>
                  <a:srgbClr val="536474"/>
                </a:solidFill>
                <a:latin typeface="Calibri"/>
              </a:rPr>
              <a:t>findings cite result sets</a:t>
            </a:r>
          </a:p>
        </p:txBody>
      </p:sp>
      <p:sp>
        <p:nvSpPr>
          <p:cNvPr id="17469" name="Right Arrow 17468"/>
          <p:cNvSpPr/>
          <p:nvPr/>
        </p:nvSpPr>
        <p:spPr>
          <a:xfrm>
            <a:off x="7403896" y="1598371"/>
            <a:ext cx="55778" cy="77724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0" name="Right Arrow 17469"/>
          <p:cNvSpPr/>
          <p:nvPr/>
        </p:nvSpPr>
        <p:spPr>
          <a:xfrm>
            <a:off x="8857792" y="1598371"/>
            <a:ext cx="55778" cy="77724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1" name="Right Arrow 17470"/>
          <p:cNvSpPr/>
          <p:nvPr/>
        </p:nvSpPr>
        <p:spPr>
          <a:xfrm>
            <a:off x="10311688" y="1598371"/>
            <a:ext cx="55778" cy="77724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2" name="Down Arrow 17471"/>
          <p:cNvSpPr/>
          <p:nvPr/>
        </p:nvSpPr>
        <p:spPr>
          <a:xfrm>
            <a:off x="11016234" y="2007107"/>
            <a:ext cx="100584" cy="155448"/>
          </a:xfrm>
          <a:prstGeom prst="down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3" name="Right Arrow 17472"/>
          <p:cNvSpPr/>
          <p:nvPr/>
        </p:nvSpPr>
        <p:spPr>
          <a:xfrm>
            <a:off x="10311688" y="2494483"/>
            <a:ext cx="55778" cy="77724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4" name="Right Arrow 17473"/>
          <p:cNvSpPr/>
          <p:nvPr/>
        </p:nvSpPr>
        <p:spPr>
          <a:xfrm>
            <a:off x="8857792" y="2494483"/>
            <a:ext cx="55778" cy="77724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5" name="Right Arrow 17474"/>
          <p:cNvSpPr/>
          <p:nvPr/>
        </p:nvSpPr>
        <p:spPr>
          <a:xfrm>
            <a:off x="7403896" y="2494483"/>
            <a:ext cx="55778" cy="77724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6" name="TextBox 17475"/>
          <p:cNvSpPr txBox="1"/>
          <p:nvPr/>
        </p:nvSpPr>
        <p:spPr>
          <a:xfrm>
            <a:off x="6016752" y="2926080"/>
            <a:ext cx="5806440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680" b="0" i="1">
                <a:solidFill>
                  <a:srgbClr val="536474"/>
                </a:solidFill>
                <a:latin typeface="Calibri"/>
              </a:rPr>
              <a:t>Evidence is never written to; every artefact is digested before it is parsed. A script that cites an undeclared binding fails `lint` before it ever touches evidence.</a:t>
            </a:r>
          </a:p>
        </p:txBody>
      </p:sp>
      <p:sp>
        <p:nvSpPr>
          <p:cNvPr id="17477" name="Rounded Rectangle 17476"/>
          <p:cNvSpPr/>
          <p:nvPr/>
        </p:nvSpPr>
        <p:spPr>
          <a:xfrm>
            <a:off x="274320" y="3346704"/>
            <a:ext cx="5532120" cy="2688336"/>
          </a:xfrm>
          <a:prstGeom prst="roundRect">
            <a:avLst>
              <a:gd name="adj" fmla="val 6000"/>
            </a:avLst>
          </a:prstGeom>
          <a:solidFill>
            <a:srgbClr val="EFEAF7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8" name="Rounded Rectangle 17477"/>
          <p:cNvSpPr/>
          <p:nvPr/>
        </p:nvSpPr>
        <p:spPr>
          <a:xfrm>
            <a:off x="274320" y="3346704"/>
            <a:ext cx="5532120" cy="274320"/>
          </a:xfrm>
          <a:prstGeom prst="roundRect">
            <a:avLst>
              <a:gd name="adj" fmla="val 1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9" name="TextBox 17478"/>
          <p:cNvSpPr txBox="1"/>
          <p:nvPr/>
        </p:nvSpPr>
        <p:spPr>
          <a:xfrm>
            <a:off x="365760" y="3360420"/>
            <a:ext cx="53492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STATE MACHINE — ONE SCRIPT RUN</a:t>
            </a:r>
          </a:p>
        </p:txBody>
      </p:sp>
      <p:sp>
        <p:nvSpPr>
          <p:cNvPr id="17480" name="Rounded Rectangle 17479"/>
          <p:cNvSpPr/>
          <p:nvPr/>
        </p:nvSpPr>
        <p:spPr>
          <a:xfrm>
            <a:off x="457200" y="3712464"/>
            <a:ext cx="148132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475488" y="3730752"/>
            <a:ext cx="1444752" cy="43891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142B4A"/>
                </a:solidFill>
                <a:latin typeface="Calibri"/>
              </a:rPr>
              <a:t>SOURCE</a:t>
            </a:r>
          </a:p>
          <a:p>
            <a:pPr algn="ctr">
              <a:lnSpc>
                <a:spcPct val="85000"/>
              </a:lnSpc>
            </a:pPr>
            <a:r>
              <a:rPr sz="600" b="0" i="0">
                <a:solidFill>
                  <a:srgbClr val="536474"/>
                </a:solidFill>
                <a:latin typeface="Calibri"/>
              </a:rPr>
              <a:t>evidence declared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2135124" y="3712464"/>
            <a:ext cx="148132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2153412" y="3730752"/>
            <a:ext cx="1444752" cy="43891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142B4A"/>
                </a:solidFill>
                <a:latin typeface="Calibri"/>
              </a:rPr>
              <a:t>LEXED</a:t>
            </a:r>
          </a:p>
          <a:p>
            <a:pPr algn="ctr">
              <a:lnSpc>
                <a:spcPct val="85000"/>
              </a:lnSpc>
            </a:pPr>
            <a:r>
              <a:rPr sz="600" b="0" i="0">
                <a:solidFill>
                  <a:srgbClr val="536474"/>
                </a:solidFill>
                <a:latin typeface="Calibri"/>
              </a:rPr>
              <a:t>tokens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3813048" y="3712464"/>
            <a:ext cx="148132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3831335" y="3730752"/>
            <a:ext cx="1444752" cy="43891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142B4A"/>
                </a:solidFill>
                <a:latin typeface="Calibri"/>
              </a:rPr>
              <a:t>PARSED</a:t>
            </a:r>
          </a:p>
          <a:p>
            <a:pPr algn="ctr">
              <a:lnSpc>
                <a:spcPct val="85000"/>
              </a:lnSpc>
            </a:pPr>
            <a:r>
              <a:rPr sz="600" b="0" i="0">
                <a:solidFill>
                  <a:srgbClr val="536474"/>
                </a:solidFill>
                <a:latin typeface="Calibri"/>
              </a:rPr>
              <a:t>AST built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3813048" y="4370832"/>
            <a:ext cx="148132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7" name="TextBox 17486"/>
          <p:cNvSpPr txBox="1"/>
          <p:nvPr/>
        </p:nvSpPr>
        <p:spPr>
          <a:xfrm>
            <a:off x="3831335" y="4389120"/>
            <a:ext cx="1444752" cy="43891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142B4A"/>
                </a:solidFill>
                <a:latin typeface="Calibri"/>
              </a:rPr>
              <a:t>BOUND</a:t>
            </a:r>
          </a:p>
          <a:p>
            <a:pPr algn="ctr">
              <a:lnSpc>
                <a:spcPct val="85000"/>
              </a:lnSpc>
            </a:pPr>
            <a:r>
              <a:rPr sz="600" b="0" i="0">
                <a:solidFill>
                  <a:srgbClr val="536474"/>
                </a:solidFill>
                <a:latin typeface="Calibri"/>
              </a:rPr>
              <a:t>bindings resolved</a:t>
            </a:r>
          </a:p>
        </p:txBody>
      </p:sp>
      <p:sp>
        <p:nvSpPr>
          <p:cNvPr id="17488" name="Rounded Rectangle 17487"/>
          <p:cNvSpPr/>
          <p:nvPr/>
        </p:nvSpPr>
        <p:spPr>
          <a:xfrm>
            <a:off x="2135124" y="4370832"/>
            <a:ext cx="1481328" cy="4754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9" name="TextBox 17488"/>
          <p:cNvSpPr txBox="1"/>
          <p:nvPr/>
        </p:nvSpPr>
        <p:spPr>
          <a:xfrm>
            <a:off x="2153412" y="4389120"/>
            <a:ext cx="1444752" cy="43891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142B4A"/>
                </a:solidFill>
                <a:latin typeface="Calibri"/>
              </a:rPr>
              <a:t>EXECUTING</a:t>
            </a:r>
          </a:p>
          <a:p>
            <a:pPr algn="ctr">
              <a:lnSpc>
                <a:spcPct val="85000"/>
              </a:lnSpc>
            </a:pPr>
            <a:r>
              <a:rPr sz="600" b="0" i="0">
                <a:solidFill>
                  <a:srgbClr val="536474"/>
                </a:solidFill>
                <a:latin typeface="Calibri"/>
              </a:rPr>
              <a:t>stages run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457200" y="4370832"/>
            <a:ext cx="1481328" cy="475488"/>
          </a:xfrm>
          <a:prstGeom prst="roundRect">
            <a:avLst>
              <a:gd name="adj" fmla="val 6000"/>
            </a:avLst>
          </a:prstGeom>
          <a:solidFill>
            <a:srgbClr val="E3F2E4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475488" y="4389120"/>
            <a:ext cx="1444752" cy="43891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0"/>
              </a:spcAft>
            </a:pPr>
            <a:r>
              <a:rPr sz="760" b="1" i="0">
                <a:solidFill>
                  <a:srgbClr val="2E7D32"/>
                </a:solidFill>
                <a:latin typeface="Calibri"/>
              </a:rPr>
              <a:t>REPORTED</a:t>
            </a:r>
          </a:p>
          <a:p>
            <a:pPr algn="ctr">
              <a:lnSpc>
                <a:spcPct val="85000"/>
              </a:lnSpc>
            </a:pPr>
            <a:r>
              <a:rPr sz="600" b="0" i="0">
                <a:solidFill>
                  <a:srgbClr val="536474"/>
                </a:solidFill>
                <a:latin typeface="Calibri"/>
              </a:rPr>
              <a:t>findings emitted</a:t>
            </a:r>
          </a:p>
        </p:txBody>
      </p:sp>
      <p:sp>
        <p:nvSpPr>
          <p:cNvPr id="17492" name="Right Arrow 17491"/>
          <p:cNvSpPr/>
          <p:nvPr/>
        </p:nvSpPr>
        <p:spPr>
          <a:xfrm>
            <a:off x="1949500" y="3911803"/>
            <a:ext cx="174650" cy="7772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3" name="Right Arrow 17492"/>
          <p:cNvSpPr/>
          <p:nvPr/>
        </p:nvSpPr>
        <p:spPr>
          <a:xfrm>
            <a:off x="3627424" y="3911803"/>
            <a:ext cx="174650" cy="7772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4" name="Down Arrow 17493"/>
          <p:cNvSpPr/>
          <p:nvPr/>
        </p:nvSpPr>
        <p:spPr>
          <a:xfrm>
            <a:off x="4503420" y="4201668"/>
            <a:ext cx="100584" cy="155448"/>
          </a:xfrm>
          <a:prstGeom prst="down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5" name="Right Arrow 17494"/>
          <p:cNvSpPr/>
          <p:nvPr/>
        </p:nvSpPr>
        <p:spPr>
          <a:xfrm>
            <a:off x="3627424" y="4570171"/>
            <a:ext cx="174650" cy="7772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6" name="Right Arrow 17495"/>
          <p:cNvSpPr/>
          <p:nvPr/>
        </p:nvSpPr>
        <p:spPr>
          <a:xfrm>
            <a:off x="1949500" y="4570171"/>
            <a:ext cx="174650" cy="77724"/>
          </a:xfrm>
          <a:prstGeom prst="rightArrow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7" name="Rounded Rectangle 17496"/>
          <p:cNvSpPr/>
          <p:nvPr/>
        </p:nvSpPr>
        <p:spPr>
          <a:xfrm>
            <a:off x="365760" y="4956048"/>
            <a:ext cx="5349240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8" name="TextBox 17497"/>
          <p:cNvSpPr txBox="1"/>
          <p:nvPr/>
        </p:nvSpPr>
        <p:spPr>
          <a:xfrm>
            <a:off x="420623" y="4983480"/>
            <a:ext cx="5239512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700" b="1" i="0">
                <a:solidFill>
                  <a:srgbClr val="B3261E"/>
                </a:solidFill>
                <a:latin typeface="Calibri"/>
              </a:rPr>
              <a:t>REJECTED STATES — a run fails loudly, never silently</a:t>
            </a:r>
          </a:p>
        </p:txBody>
      </p:sp>
      <p:sp>
        <p:nvSpPr>
          <p:cNvPr id="17499" name="Rounded Rectangle 17498"/>
          <p:cNvSpPr/>
          <p:nvPr/>
        </p:nvSpPr>
        <p:spPr>
          <a:xfrm>
            <a:off x="420623" y="5175504"/>
            <a:ext cx="1682496" cy="7315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0" name="TextBox 17499"/>
          <p:cNvSpPr txBox="1"/>
          <p:nvPr/>
        </p:nvSpPr>
        <p:spPr>
          <a:xfrm>
            <a:off x="466344" y="5193792"/>
            <a:ext cx="1591056" cy="694944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660" b="1" i="0">
                <a:solidFill>
                  <a:srgbClr val="B3261E"/>
                </a:solidFill>
                <a:latin typeface="Calibri"/>
              </a:rPr>
              <a:t>SYNTAX ERROR</a:t>
            </a:r>
          </a:p>
          <a:p>
            <a:pPr algn="ctr">
              <a:lnSpc>
                <a:spcPct val="88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>line:col with a caret under the offending token</a:t>
            </a:r>
          </a:p>
        </p:txBody>
      </p:sp>
      <p:sp>
        <p:nvSpPr>
          <p:cNvPr id="17501" name="Rounded Rectangle 17500"/>
          <p:cNvSpPr/>
          <p:nvPr/>
        </p:nvSpPr>
        <p:spPr>
          <a:xfrm>
            <a:off x="2185415" y="5175504"/>
            <a:ext cx="1682496" cy="7315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2" name="TextBox 17501"/>
          <p:cNvSpPr txBox="1"/>
          <p:nvPr/>
        </p:nvSpPr>
        <p:spPr>
          <a:xfrm>
            <a:off x="2231135" y="5193792"/>
            <a:ext cx="1591056" cy="694944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660" b="1" i="0">
                <a:solidFill>
                  <a:srgbClr val="B3261E"/>
                </a:solidFill>
                <a:latin typeface="Calibri"/>
              </a:rPr>
              <a:t>UNKNOWN BINDING</a:t>
            </a:r>
          </a:p>
          <a:p>
            <a:pPr algn="ctr">
              <a:lnSpc>
                <a:spcPct val="88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>caught by `lint` before evidence is read</a:t>
            </a:r>
          </a:p>
        </p:txBody>
      </p:sp>
      <p:sp>
        <p:nvSpPr>
          <p:cNvPr id="17503" name="Rounded Rectangle 17502"/>
          <p:cNvSpPr/>
          <p:nvPr/>
        </p:nvSpPr>
        <p:spPr>
          <a:xfrm>
            <a:off x="3950208" y="5175504"/>
            <a:ext cx="1682496" cy="7315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9525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4" name="TextBox 17503"/>
          <p:cNvSpPr txBox="1"/>
          <p:nvPr/>
        </p:nvSpPr>
        <p:spPr>
          <a:xfrm>
            <a:off x="3995928" y="5193792"/>
            <a:ext cx="1591056" cy="694944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spcAft>
                <a:spcPts val="100"/>
              </a:spcAft>
            </a:pPr>
            <a:r>
              <a:rPr sz="660" b="1" i="0">
                <a:solidFill>
                  <a:srgbClr val="B3261E"/>
                </a:solidFill>
                <a:latin typeface="Calibri"/>
              </a:rPr>
              <a:t>RUNTIME ERROR</a:t>
            </a:r>
          </a:p>
          <a:p>
            <a:pPr algn="ctr">
              <a:lnSpc>
                <a:spcPct val="88000"/>
              </a:lnSpc>
            </a:pPr>
            <a:r>
              <a:rPr sz="600" b="0" i="0">
                <a:solidFill>
                  <a:srgbClr val="1A1A1A"/>
                </a:solidFill>
                <a:latin typeface="Calibri"/>
              </a:rPr>
              <a:t>missing evidence names the path it looked for</a:t>
            </a:r>
          </a:p>
        </p:txBody>
      </p:sp>
      <p:sp>
        <p:nvSpPr>
          <p:cNvPr id="17505" name="Rounded Rectangle 17504"/>
          <p:cNvSpPr/>
          <p:nvPr/>
        </p:nvSpPr>
        <p:spPr>
          <a:xfrm>
            <a:off x="5925312" y="3346704"/>
            <a:ext cx="5989320" cy="2688336"/>
          </a:xfrm>
          <a:prstGeom prst="roundRect">
            <a:avLst>
              <a:gd name="adj" fmla="val 6000"/>
            </a:avLst>
          </a:prstGeom>
          <a:solidFill>
            <a:srgbClr val="E4F2F1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6" name="Rounded Rectangle 17505"/>
          <p:cNvSpPr/>
          <p:nvPr/>
        </p:nvSpPr>
        <p:spPr>
          <a:xfrm>
            <a:off x="5925312" y="3346704"/>
            <a:ext cx="5989320" cy="274320"/>
          </a:xfrm>
          <a:prstGeom prst="roundRect">
            <a:avLst>
              <a:gd name="adj" fmla="val 16000"/>
            </a:avLst>
          </a:prstGeom>
          <a:solidFill>
            <a:srgbClr val="0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7" name="TextBox 17506"/>
          <p:cNvSpPr txBox="1"/>
          <p:nvPr/>
        </p:nvSpPr>
        <p:spPr>
          <a:xfrm>
            <a:off x="6016752" y="3360420"/>
            <a:ext cx="58064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TECHNOLOGY STACK &amp; LANGUAGE</a:t>
            </a:r>
          </a:p>
        </p:txBody>
      </p:sp>
      <p:sp>
        <p:nvSpPr>
          <p:cNvPr id="17508" name="Rounded Rectangle 17507"/>
          <p:cNvSpPr/>
          <p:nvPr/>
        </p:nvSpPr>
        <p:spPr>
          <a:xfrm>
            <a:off x="6016752" y="3694176"/>
            <a:ext cx="1362456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9" name="TextBox 17508"/>
          <p:cNvSpPr txBox="1"/>
          <p:nvPr/>
        </p:nvSpPr>
        <p:spPr>
          <a:xfrm>
            <a:off x="6044184" y="3694176"/>
            <a:ext cx="1307592" cy="25603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/>
            <a:r>
              <a:rPr sz="660" b="1" i="0">
                <a:solidFill>
                  <a:srgbClr val="006A6A"/>
                </a:solidFill>
                <a:latin typeface="Calibri"/>
              </a:rPr>
              <a:t>Python 3.11+</a:t>
            </a:r>
          </a:p>
        </p:txBody>
      </p:sp>
      <p:sp>
        <p:nvSpPr>
          <p:cNvPr id="17510" name="Rounded Rectangle 17509"/>
          <p:cNvSpPr/>
          <p:nvPr/>
        </p:nvSpPr>
        <p:spPr>
          <a:xfrm>
            <a:off x="7447788" y="3694176"/>
            <a:ext cx="1362456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1" name="TextBox 17510"/>
          <p:cNvSpPr txBox="1"/>
          <p:nvPr/>
        </p:nvSpPr>
        <p:spPr>
          <a:xfrm>
            <a:off x="7475219" y="3694176"/>
            <a:ext cx="1307592" cy="25603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/>
            <a:r>
              <a:rPr sz="660" b="1" i="0">
                <a:solidFill>
                  <a:srgbClr val="006A6A"/>
                </a:solidFill>
                <a:latin typeface="Calibri"/>
              </a:rPr>
              <a:t>standard library only</a:t>
            </a:r>
          </a:p>
        </p:txBody>
      </p:sp>
      <p:sp>
        <p:nvSpPr>
          <p:cNvPr id="17512" name="Rounded Rectangle 17511"/>
          <p:cNvSpPr/>
          <p:nvPr/>
        </p:nvSpPr>
        <p:spPr>
          <a:xfrm>
            <a:off x="8878824" y="3694176"/>
            <a:ext cx="1362456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3" name="TextBox 17512"/>
          <p:cNvSpPr txBox="1"/>
          <p:nvPr/>
        </p:nvSpPr>
        <p:spPr>
          <a:xfrm>
            <a:off x="8906256" y="3694176"/>
            <a:ext cx="1307592" cy="25603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/>
            <a:r>
              <a:rPr sz="660" b="1" i="0">
                <a:solidFill>
                  <a:srgbClr val="006A6A"/>
                </a:solidFill>
                <a:latin typeface="Calibri"/>
              </a:rPr>
              <a:t>0 dependencies</a:t>
            </a:r>
          </a:p>
        </p:txBody>
      </p:sp>
      <p:sp>
        <p:nvSpPr>
          <p:cNvPr id="17514" name="Rounded Rectangle 17513"/>
          <p:cNvSpPr/>
          <p:nvPr/>
        </p:nvSpPr>
        <p:spPr>
          <a:xfrm>
            <a:off x="10309860" y="3694176"/>
            <a:ext cx="1362456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5" name="TextBox 17514"/>
          <p:cNvSpPr txBox="1"/>
          <p:nvPr/>
        </p:nvSpPr>
        <p:spPr>
          <a:xfrm>
            <a:off x="10337292" y="3694176"/>
            <a:ext cx="1307592" cy="25603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/>
            <a:r>
              <a:rPr sz="660" b="1" i="0">
                <a:solidFill>
                  <a:srgbClr val="006A6A"/>
                </a:solidFill>
                <a:latin typeface="Calibri"/>
              </a:rPr>
              <a:t>ThreadingHTTPServer</a:t>
            </a:r>
          </a:p>
        </p:txBody>
      </p:sp>
      <p:sp>
        <p:nvSpPr>
          <p:cNvPr id="17516" name="Rounded Rectangle 17515"/>
          <p:cNvSpPr/>
          <p:nvPr/>
        </p:nvSpPr>
        <p:spPr>
          <a:xfrm>
            <a:off x="6016752" y="3982212"/>
            <a:ext cx="1362456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7" name="TextBox 17516"/>
          <p:cNvSpPr txBox="1"/>
          <p:nvPr/>
        </p:nvSpPr>
        <p:spPr>
          <a:xfrm>
            <a:off x="6044184" y="3982212"/>
            <a:ext cx="1307592" cy="25603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/>
            <a:r>
              <a:rPr sz="660" b="1" i="0">
                <a:solidFill>
                  <a:srgbClr val="006A6A"/>
                </a:solidFill>
                <a:latin typeface="Calibri"/>
              </a:rPr>
              <a:t>SHA-256 / MD5</a:t>
            </a:r>
          </a:p>
        </p:txBody>
      </p:sp>
      <p:sp>
        <p:nvSpPr>
          <p:cNvPr id="17518" name="Rounded Rectangle 17517"/>
          <p:cNvSpPr/>
          <p:nvPr/>
        </p:nvSpPr>
        <p:spPr>
          <a:xfrm>
            <a:off x="7447788" y="3982212"/>
            <a:ext cx="1362456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9" name="TextBox 17518"/>
          <p:cNvSpPr txBox="1"/>
          <p:nvPr/>
        </p:nvSpPr>
        <p:spPr>
          <a:xfrm>
            <a:off x="7475219" y="3982212"/>
            <a:ext cx="1307592" cy="25603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/>
            <a:r>
              <a:rPr sz="660" b="1" i="0">
                <a:solidFill>
                  <a:srgbClr val="006A6A"/>
                </a:solidFill>
                <a:latin typeface="Calibri"/>
              </a:rPr>
              <a:t>unittest — 50 tests</a:t>
            </a:r>
          </a:p>
        </p:txBody>
      </p:sp>
      <p:sp>
        <p:nvSpPr>
          <p:cNvPr id="17520" name="Rounded Rectangle 17519"/>
          <p:cNvSpPr/>
          <p:nvPr/>
        </p:nvSpPr>
        <p:spPr>
          <a:xfrm>
            <a:off x="8878824" y="3982212"/>
            <a:ext cx="1362456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21" name="TextBox 17520"/>
          <p:cNvSpPr txBox="1"/>
          <p:nvPr/>
        </p:nvSpPr>
        <p:spPr>
          <a:xfrm>
            <a:off x="8906256" y="3982212"/>
            <a:ext cx="1307592" cy="25603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/>
            <a:r>
              <a:rPr sz="660" b="1" i="0">
                <a:solidFill>
                  <a:srgbClr val="006A6A"/>
                </a:solidFill>
                <a:latin typeface="Calibri"/>
              </a:rPr>
              <a:t>single-file console</a:t>
            </a:r>
          </a:p>
        </p:txBody>
      </p:sp>
      <p:sp>
        <p:nvSpPr>
          <p:cNvPr id="17522" name="Rounded Rectangle 17521"/>
          <p:cNvSpPr/>
          <p:nvPr/>
        </p:nvSpPr>
        <p:spPr>
          <a:xfrm>
            <a:off x="10309860" y="3982212"/>
            <a:ext cx="1362456" cy="25603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23" name="TextBox 17522"/>
          <p:cNvSpPr txBox="1"/>
          <p:nvPr/>
        </p:nvSpPr>
        <p:spPr>
          <a:xfrm>
            <a:off x="10337292" y="3982212"/>
            <a:ext cx="1307592" cy="256032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/>
            <a:r>
              <a:rPr sz="660" b="1" i="0">
                <a:solidFill>
                  <a:srgbClr val="006A6A"/>
                </a:solidFill>
                <a:latin typeface="Calibri"/>
              </a:rPr>
              <a:t>loopback binding</a:t>
            </a:r>
          </a:p>
        </p:txBody>
      </p:sp>
      <p:sp>
        <p:nvSpPr>
          <p:cNvPr id="17524" name="Rounded Rectangle 17523"/>
          <p:cNvSpPr/>
          <p:nvPr/>
        </p:nvSpPr>
        <p:spPr>
          <a:xfrm>
            <a:off x="6016752" y="4315968"/>
            <a:ext cx="5806440" cy="1572768"/>
          </a:xfrm>
          <a:prstGeom prst="roundRect">
            <a:avLst>
              <a:gd name="adj" fmla="val 6000"/>
            </a:avLst>
          </a:prstGeom>
          <a:solidFill>
            <a:srgbClr val="0D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25" name="TextBox 17524"/>
          <p:cNvSpPr txBox="1"/>
          <p:nvPr/>
        </p:nvSpPr>
        <p:spPr>
          <a:xfrm>
            <a:off x="6089904" y="4352544"/>
            <a:ext cx="5660136" cy="151790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90CDF4"/>
                </a:solidFill>
                <a:latin typeface="Consolas"/>
              </a:rPr>
              <a:t>case "SIH-2026-014"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90CDF4"/>
                </a:solidFill>
                <a:latin typeface="Consolas"/>
              </a:rPr>
              <a:t>source flows = ingest "evidence/netflow.csv"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4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C792EA"/>
                </a:solidFill>
                <a:latin typeface="Consolas"/>
              </a:rPr>
              <a:t>let beacon = flows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A5D6A7"/>
                </a:solidFill>
                <a:latin typeface="Consolas"/>
              </a:rPr>
              <a:t>    |&gt; where (direction == "outbound")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A5D6A7"/>
                </a:solidFill>
                <a:latin typeface="Consolas"/>
              </a:rPr>
              <a:t>    |&gt; where (is_public_ip(dst_ip))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A5D6A7"/>
                </a:solidFill>
                <a:latin typeface="Consolas"/>
              </a:rPr>
              <a:t>    |&gt; where (bytes &lt; 2000)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A5D6A7"/>
                </a:solidFill>
                <a:latin typeface="Consolas"/>
              </a:rPr>
              <a:t>    |&gt; group by (dst_ip, dst_port)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A5D6A7"/>
                </a:solidFill>
                <a:latin typeface="Consolas"/>
              </a:rPr>
              <a:t>    |&gt; sort by (count desc)</a:t>
            </a:r>
          </a:p>
          <a:p>
            <a:pPr algn="l">
              <a:lnSpc>
                <a:spcPct val="85000"/>
              </a:lnSpc>
              <a:spcAft>
                <a:spcPts val="0"/>
              </a:spcAft>
            </a:pPr>
            <a:r>
              <a:rPr sz="400" b="0" i="0">
                <a:solidFill>
                  <a:srgbClr val="1A1A1A"/>
                </a:solidFill>
                <a:latin typeface="Consolas"/>
              </a:rPr>
              <a:t> 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FFB86C"/>
                </a:solidFill>
                <a:latin typeface="Consolas"/>
              </a:rPr>
              <a:t>finding "Beaconing to an external endpoint"</a:t>
            </a:r>
          </a:p>
          <a:p>
            <a:pPr algn="l">
              <a:lnSpc>
                <a:spcPct val="92000"/>
              </a:lnSpc>
              <a:spcAft>
                <a:spcPts val="0"/>
              </a:spcAft>
            </a:pPr>
            <a:r>
              <a:rPr sz="740" b="0" i="0">
                <a:solidFill>
                  <a:srgbClr val="FFB86C"/>
                </a:solidFill>
                <a:latin typeface="Consolas"/>
              </a:rPr>
              <a:t>    severity critical from beacon</a:t>
            </a:r>
          </a:p>
        </p:txBody>
      </p:sp>
      <p:sp>
        <p:nvSpPr>
          <p:cNvPr id="17526" name="TextBox 17525"/>
          <p:cNvSpPr txBox="1"/>
          <p:nvPr/>
        </p:nvSpPr>
        <p:spPr>
          <a:xfrm>
            <a:off x="6089904" y="5907024"/>
            <a:ext cx="566013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/>
            <a:r>
              <a:rPr sz="620" b="0" i="1">
                <a:solidFill>
                  <a:srgbClr val="536474"/>
                </a:solidFill>
                <a:latin typeface="Calibri"/>
              </a:rPr>
              <a:t>Real script from scripts/beacon_hunt.jky — 332 tokens, 101 AST nodes, 6 findings, 11 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0040" y="274320"/>
            <a:ext cx="11887200" cy="384048"/>
          </a:xfrm>
        </p:spPr>
        <p:txBody>
          <a:bodyPr wrap="square" anchor="t" lIns="0" tIns="0" bIns="0">
            <a:noAutofit/>
          </a:bodyPr>
          <a:lstStyle/>
          <a:p>
            <a:pPr eaLnBrk="1" hangingPunct="1"/>
            <a:r>
              <a:rPr sz="2600" b="1">
                <a:solidFill>
                  <a:srgbClr val="142B4A"/>
                </a:solidFill>
                <a:latin typeface="Calibri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45920" y="772668"/>
            <a:ext cx="7909560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600" i="1">
                <a:solidFill>
                  <a:srgbClr val="7A8A99"/>
                </a:solidFill>
                <a:latin typeface="Calibri"/>
              </a:rPr>
              <a:t>Analysis of the feasibility of the idea  ·  Potential challenges and risks  ·  Strategies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>
                <a:solidFill>
                  <a:srgbClr val="FFFFFF"/>
                </a:solidFill>
                <a:latin typeface="Calibri"/>
              </a:rPr>
              <a:t>@SIH Idea submission – PPT – Team Data_Drishti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Data_Drishti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74320" y="914400"/>
            <a:ext cx="5532120" cy="230428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74320" y="914400"/>
            <a:ext cx="5532120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928115"/>
            <a:ext cx="53492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EXECUTION TIME SCALES LINEARLY WITH EVIDENCE VOLUME</a:t>
            </a:r>
          </a:p>
        </p:txBody>
      </p:sp>
      <p:graphicFrame>
        <p:nvGraphicFramePr>
          <p:cNvPr id="17414" name="Chart 17413"/>
          <p:cNvGraphicFramePr>
            <a:graphicFrameLocks noGrp="1"/>
          </p:cNvGraphicFramePr>
          <p:nvPr/>
        </p:nvGraphicFramePr>
        <p:xfrm>
          <a:off x="347472" y="1261872"/>
          <a:ext cx="5385816" cy="1591056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7415" name="TextBox 17414"/>
          <p:cNvSpPr txBox="1"/>
          <p:nvPr/>
        </p:nvSpPr>
        <p:spPr>
          <a:xfrm>
            <a:off x="384048" y="2880360"/>
            <a:ext cx="534924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640" b="0" i="1">
                <a:solidFill>
                  <a:srgbClr val="536474"/>
                </a:solidFill>
                <a:latin typeface="Calibri"/>
              </a:rPr>
              <a:t>One representative investigation — filter, entropy, CTI join, group-by, sort, timeline, 3 findings. Lex + parse stayed at 2.2–3.1 ms at every size, so script cost is independent of data volume.</a:t>
            </a:r>
          </a:p>
        </p:txBody>
      </p:sp>
      <p:sp>
        <p:nvSpPr>
          <p:cNvPr id="17416" name="Rounded Rectangle 17415"/>
          <p:cNvSpPr/>
          <p:nvPr/>
        </p:nvSpPr>
        <p:spPr>
          <a:xfrm>
            <a:off x="274320" y="3346704"/>
            <a:ext cx="5532120" cy="2688336"/>
          </a:xfrm>
          <a:prstGeom prst="roundRect">
            <a:avLst>
              <a:gd name="adj" fmla="val 6000"/>
            </a:avLst>
          </a:prstGeom>
          <a:solidFill>
            <a:srgbClr val="FDF1D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Rounded Rectangle 17416"/>
          <p:cNvSpPr/>
          <p:nvPr/>
        </p:nvSpPr>
        <p:spPr>
          <a:xfrm>
            <a:off x="274320" y="3346704"/>
            <a:ext cx="5532120" cy="274320"/>
          </a:xfrm>
          <a:prstGeom prst="roundRect">
            <a:avLst>
              <a:gd name="adj" fmla="val 16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8" name="TextBox 17417"/>
          <p:cNvSpPr txBox="1"/>
          <p:nvPr/>
        </p:nvSpPr>
        <p:spPr>
          <a:xfrm>
            <a:off x="365760" y="3360420"/>
            <a:ext cx="53492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THROUGHPUT IS FLAT — THE OVERHEAD IS MEASURED, NOT HIDDEN</a:t>
            </a:r>
          </a:p>
        </p:txBody>
      </p:sp>
      <p:graphicFrame>
        <p:nvGraphicFramePr>
          <p:cNvPr id="17419" name="Chart 17418"/>
          <p:cNvGraphicFramePr>
            <a:graphicFrameLocks noGrp="1"/>
          </p:cNvGraphicFramePr>
          <p:nvPr/>
        </p:nvGraphicFramePr>
        <p:xfrm>
          <a:off x="347472" y="3694176"/>
          <a:ext cx="3017520" cy="1719072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graphicFrame>
        <p:nvGraphicFramePr>
          <p:cNvPr id="17420" name="Chart 17419"/>
          <p:cNvGraphicFramePr>
            <a:graphicFrameLocks noGrp="1"/>
          </p:cNvGraphicFramePr>
          <p:nvPr/>
        </p:nvGraphicFramePr>
        <p:xfrm>
          <a:off x="3346703" y="3694176"/>
          <a:ext cx="2386584" cy="1719072"/>
        </p:xfrm>
        <a:graphic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17421" name="TextBox 17420"/>
          <p:cNvSpPr txBox="1"/>
          <p:nvPr/>
        </p:nvSpPr>
        <p:spPr>
          <a:xfrm>
            <a:off x="384048" y="5440680"/>
            <a:ext cx="53492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2000"/>
              </a:lnSpc>
            </a:pPr>
            <a:r>
              <a:rPr sz="660" b="0" i="1">
                <a:solidFill>
                  <a:srgbClr val="536474"/>
                </a:solidFill>
                <a:latin typeface="Calibri"/>
              </a:rPr>
              <a:t>Throughput holds at 5.1k–7.4k records/sec, so cost is linear and predictable. The tree-walking interpreter costs 20–26× the equivalent hand-written Python — accepted for an auditable reference implementation, and the reason a bytecode VM is the first roadmap item.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5925312" y="914400"/>
            <a:ext cx="5989320" cy="230428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Rounded Rectangle 17422"/>
          <p:cNvSpPr/>
          <p:nvPr/>
        </p:nvSpPr>
        <p:spPr>
          <a:xfrm>
            <a:off x="5925312" y="914400"/>
            <a:ext cx="5989320" cy="274320"/>
          </a:xfrm>
          <a:prstGeom prst="roundRect">
            <a:avLst>
              <a:gd name="adj" fmla="val 1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6016752" y="928115"/>
            <a:ext cx="58064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MEASURED RESULTS</a:t>
            </a:r>
          </a:p>
        </p:txBody>
      </p:sp>
      <p:graphicFrame>
        <p:nvGraphicFramePr>
          <p:cNvPr id="17425" name="Table 17424"/>
          <p:cNvGraphicFramePr>
            <a:graphicFrameLocks noGrp="1"/>
          </p:cNvGraphicFramePr>
          <p:nvPr/>
        </p:nvGraphicFramePr>
        <p:xfrm>
          <a:off x="5998464" y="1225295"/>
          <a:ext cx="5843014" cy="1888236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148839"/>
                <a:gridCol w="3694175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Measured result</a:t>
                      </a:r>
                    </a:p>
                  </a:txBody>
                  <a:tcPr marL="45720" marR="36576" marT="9144" marB="9144" anchor="ctr">
                    <a:solidFill>
                      <a:srgbClr val="142B4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marL="45720" marR="36576" marT="9144" marB="9144" anchor="ctr">
                    <a:solidFill>
                      <a:srgbClr val="142B4A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1A1A1A"/>
                          </a:solidFill>
                          <a:latin typeface="Calibri"/>
                        </a:rPr>
                        <a:t>Lex + parse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1A1A1A"/>
                          </a:solidFill>
                          <a:latin typeface="Calibri"/>
                        </a:rPr>
                        <a:t>2.2 – 3.1 ms — independent of evidence size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1A1A1A"/>
                          </a:solidFill>
                          <a:latin typeface="Calibri"/>
                        </a:rPr>
                        <a:t>Interpreter throughput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1A1A1A"/>
                          </a:solidFill>
                          <a:latin typeface="Calibri"/>
                        </a:rPr>
                        <a:t>5,079 – 7,363 records / second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1A1A1A"/>
                          </a:solidFill>
                          <a:latin typeface="Calibri"/>
                        </a:rPr>
                        <a:t>Peak interpreter memory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1A1A1A"/>
                          </a:solidFill>
                          <a:latin typeface="Calibri"/>
                        </a:rPr>
                        <a:t>1.9 MB @1k → 188 MB @100k, linear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1A1A1A"/>
                          </a:solidFill>
                          <a:latin typeface="Calibri"/>
                        </a:rPr>
                        <a:t>Overhead vs hand-written Python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1A1A1A"/>
                          </a:solidFill>
                          <a:latin typeface="Calibri"/>
                        </a:rPr>
                        <a:t>20 – 26 ×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1A1A1A"/>
                          </a:solidFill>
                          <a:latin typeface="Calibri"/>
                        </a:rPr>
                        <a:t>Result stability across scales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1A1A1A"/>
                          </a:solidFill>
                          <a:latin typeface="Calibri"/>
                        </a:rPr>
                        <a:t>identical findings at every size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1A1A1A"/>
                          </a:solidFill>
                          <a:latin typeface="Calibri"/>
                        </a:rPr>
                        <a:t>Third-party dependencies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1A1A1A"/>
                          </a:solidFill>
                          <a:latin typeface="Calibri"/>
                        </a:rPr>
                        <a:t>0 — standard library only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</a:tr>
              <a:tr h="23317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1">
                          <a:solidFill>
                            <a:srgbClr val="1A1A1A"/>
                          </a:solidFill>
                          <a:latin typeface="Calibri"/>
                        </a:rPr>
                        <a:t>Automated test suite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40" b="0">
                          <a:solidFill>
                            <a:srgbClr val="1A1A1A"/>
                          </a:solidFill>
                          <a:latin typeface="Calibri"/>
                        </a:rPr>
                        <a:t>50 tests, all passing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426" name="Rounded Rectangle 17425"/>
          <p:cNvSpPr/>
          <p:nvPr/>
        </p:nvSpPr>
        <p:spPr>
          <a:xfrm>
            <a:off x="5925312" y="3346704"/>
            <a:ext cx="5989320" cy="26883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Rounded Rectangle 17426"/>
          <p:cNvSpPr/>
          <p:nvPr/>
        </p:nvSpPr>
        <p:spPr>
          <a:xfrm>
            <a:off x="5925312" y="3346704"/>
            <a:ext cx="5989320" cy="274320"/>
          </a:xfrm>
          <a:prstGeom prst="roundRect">
            <a:avLst>
              <a:gd name="adj" fmla="val 16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8" name="TextBox 17427"/>
          <p:cNvSpPr txBox="1"/>
          <p:nvPr/>
        </p:nvSpPr>
        <p:spPr>
          <a:xfrm>
            <a:off x="6016752" y="3360420"/>
            <a:ext cx="58064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RISKS AND MITIGATION STRATEGY</a:t>
            </a:r>
          </a:p>
        </p:txBody>
      </p:sp>
      <p:graphicFrame>
        <p:nvGraphicFramePr>
          <p:cNvPr id="17429" name="Table 17428"/>
          <p:cNvGraphicFramePr>
            <a:graphicFrameLocks noGrp="1"/>
          </p:cNvGraphicFramePr>
          <p:nvPr/>
        </p:nvGraphicFramePr>
        <p:xfrm>
          <a:off x="5998464" y="3657600"/>
          <a:ext cx="5843016" cy="2313432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874520"/>
                <a:gridCol w="3968496"/>
              </a:tblGrid>
              <a:tr h="256032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Risk</a:t>
                      </a:r>
                    </a:p>
                  </a:txBody>
                  <a:tcPr marL="45720" marR="36576" marT="9144" marB="9144" anchor="ctr">
                    <a:solidFill>
                      <a:srgbClr val="B3261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80" b="1">
                          <a:solidFill>
                            <a:srgbClr val="FFFFFF"/>
                          </a:solidFill>
                          <a:latin typeface="Calibri"/>
                        </a:rPr>
                        <a:t>Mitigation strategy</a:t>
                      </a:r>
                    </a:p>
                  </a:txBody>
                  <a:tcPr marL="45720" marR="36576" marT="9144" marB="9144" anchor="ctr">
                    <a:solidFill>
                      <a:srgbClr val="B3261E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Interpreter too slow for full-disk images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Measured and stated, not hidden. Scope scripts to triage sets (10⁴–10⁵ records) where first-response calls are made; bytecode VM is the next milestone.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Examiner over-trusts an automated finding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Severity is authored by the examiner, never inferred. Every finding cites its result set and record count; the report is reproducible.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AV/EDR blocks the collector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Not answered with obfuscation: signed reproducible builds with published hashes for vendor allowlisting, documented telemetry sources only, read-only access.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Evidence altered during analysis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Sources opened read-only and SHA-256 digested at open; nothing is ever written back to a source system.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Console reachable from the network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Loopback binding plus per-request client-address validation; fleet mode is opt-in, over TLS with pinned certificates.</a:t>
                      </a:r>
                    </a:p>
                  </a:txBody>
                  <a:tcPr marL="45720" marR="36576" marT="9144" marB="9144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Script path traversal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94000"/>
                        </a:lnSpc>
                        <a:spcAft>
                          <a:spcPts val="0"/>
                        </a:spcAft>
                      </a:pPr>
                      <a:r>
                        <a:rPr sz="700" b="0">
                          <a:solidFill>
                            <a:srgbClr val="1A1A1A"/>
                          </a:solidFill>
                          <a:latin typeface="Calibri"/>
                        </a:rPr>
                        <a:t>Resolved path must remain inside scripts/; rejected, and covered by the test suite.</a:t>
                      </a:r>
                    </a:p>
                  </a:txBody>
                  <a:tcPr marL="45720" marR="36576" marT="9144" marB="9144" anchor="ctr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  <p:sp>
        <p:nvSpPr>
          <p:cNvPr id="17430" name="TextBox 17429"/>
          <p:cNvSpPr txBox="1"/>
          <p:nvPr/>
        </p:nvSpPr>
        <p:spPr>
          <a:xfrm>
            <a:off x="274320" y="6071616"/>
            <a:ext cx="116403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620" b="0" i="1">
                <a:solidFill>
                  <a:srgbClr val="7A8A99"/>
                </a:solidFill>
                <a:latin typeface="Calibri"/>
              </a:rPr>
              <a:t>All figures measured on the target machine by deck/bench.py and deck/bench_baseline.py — see deck/bench_results.json. Ratios and throughputs, not absolute speeds, are the portable result.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0040" y="274320"/>
            <a:ext cx="11887200" cy="384048"/>
          </a:xfrm>
        </p:spPr>
        <p:txBody>
          <a:bodyPr wrap="square" anchor="t" lIns="0" tIns="0" bIns="0">
            <a:noAutofit/>
          </a:bodyPr>
          <a:lstStyle/>
          <a:p>
            <a:pPr eaLnBrk="1" hangingPunct="1"/>
            <a:r>
              <a:rPr sz="2600" b="1">
                <a:solidFill>
                  <a:srgbClr val="142B4A"/>
                </a:solidFill>
                <a:latin typeface="Calibri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45920" y="772668"/>
            <a:ext cx="7909560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600" i="1">
                <a:solidFill>
                  <a:srgbClr val="7A8A99"/>
                </a:solidFill>
                <a:latin typeface="Calibri"/>
              </a:rPr>
              <a:t>Potential impact on the target audience  ·  Benefits of the solution (social, economic, industry)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>
                <a:solidFill>
                  <a:srgbClr val="FFFFFF"/>
                </a:solidFill>
                <a:latin typeface="Calibri"/>
              </a:rPr>
              <a:t>@SIH Idea submission – PPT – Team Data_Drishti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Data_Drishti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74320" y="914400"/>
            <a:ext cx="3977639" cy="338328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74320" y="914400"/>
            <a:ext cx="3977639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928115"/>
            <a:ext cx="379475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ADDRESSABLE IMPACT</a:t>
            </a:r>
          </a:p>
        </p:txBody>
      </p:sp>
      <p:sp>
        <p:nvSpPr>
          <p:cNvPr id="17414" name="Oval 17413"/>
          <p:cNvSpPr/>
          <p:nvPr/>
        </p:nvSpPr>
        <p:spPr>
          <a:xfrm>
            <a:off x="585216" y="1170432"/>
            <a:ext cx="2084831" cy="2084831"/>
          </a:xfrm>
          <a:prstGeom prst="ellipse">
            <a:avLst/>
          </a:prstGeom>
          <a:noFill/>
          <a:ln w="1778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Oval 17414"/>
          <p:cNvSpPr/>
          <p:nvPr/>
        </p:nvSpPr>
        <p:spPr>
          <a:xfrm>
            <a:off x="932688" y="1517904"/>
            <a:ext cx="1389888" cy="1389888"/>
          </a:xfrm>
          <a:prstGeom prst="ellipse">
            <a:avLst/>
          </a:prstGeom>
          <a:noFill/>
          <a:ln w="1778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6" name="Oval 17415"/>
          <p:cNvSpPr/>
          <p:nvPr/>
        </p:nvSpPr>
        <p:spPr>
          <a:xfrm>
            <a:off x="1261872" y="1847088"/>
            <a:ext cx="731520" cy="731520"/>
          </a:xfrm>
          <a:prstGeom prst="ellipse">
            <a:avLst/>
          </a:prstGeom>
          <a:noFill/>
          <a:ln w="17780">
            <a:solidFill>
              <a:srgbClr val="142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7" name="TextBox 17416"/>
          <p:cNvSpPr txBox="1"/>
          <p:nvPr/>
        </p:nvSpPr>
        <p:spPr>
          <a:xfrm>
            <a:off x="1078992" y="1353312"/>
            <a:ext cx="109728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2E7D32"/>
                </a:solidFill>
                <a:latin typeface="Calibri"/>
              </a:rPr>
              <a:t>TAM</a:t>
            </a:r>
          </a:p>
        </p:txBody>
      </p:sp>
      <p:sp>
        <p:nvSpPr>
          <p:cNvPr id="17418" name="TextBox 17417"/>
          <p:cNvSpPr txBox="1"/>
          <p:nvPr/>
        </p:nvSpPr>
        <p:spPr>
          <a:xfrm>
            <a:off x="1078992" y="1682495"/>
            <a:ext cx="109728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2E75B6"/>
                </a:solidFill>
                <a:latin typeface="Calibri"/>
              </a:rPr>
              <a:t>SAM</a:t>
            </a:r>
          </a:p>
        </p:txBody>
      </p:sp>
      <p:sp>
        <p:nvSpPr>
          <p:cNvPr id="17419" name="TextBox 17418"/>
          <p:cNvSpPr txBox="1"/>
          <p:nvPr/>
        </p:nvSpPr>
        <p:spPr>
          <a:xfrm>
            <a:off x="1078992" y="1993391"/>
            <a:ext cx="1097280" cy="20116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900" b="1" i="0">
                <a:solidFill>
                  <a:srgbClr val="142B4A"/>
                </a:solidFill>
                <a:latin typeface="Calibri"/>
              </a:rPr>
              <a:t>SOM</a:t>
            </a:r>
          </a:p>
        </p:txBody>
      </p:sp>
      <p:sp>
        <p:nvSpPr>
          <p:cNvPr id="17420" name="Rounded Rectangle 17419"/>
          <p:cNvSpPr/>
          <p:nvPr/>
        </p:nvSpPr>
        <p:spPr>
          <a:xfrm>
            <a:off x="365760" y="2999232"/>
            <a:ext cx="3794759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1" name="TextBox 17420"/>
          <p:cNvSpPr txBox="1"/>
          <p:nvPr/>
        </p:nvSpPr>
        <p:spPr>
          <a:xfrm>
            <a:off x="420623" y="3008375"/>
            <a:ext cx="78638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2E7D32"/>
                </a:solidFill>
                <a:latin typeface="Calibri"/>
              </a:rPr>
              <a:t>TAM</a:t>
            </a:r>
          </a:p>
          <a:p>
            <a:pPr algn="l">
              <a:lnSpc>
                <a:spcPct val="85000"/>
              </a:lnSpc>
            </a:pPr>
            <a:r>
              <a:rPr sz="600" b="1" i="0">
                <a:solidFill>
                  <a:srgbClr val="536474"/>
                </a:solidFill>
                <a:latin typeface="Calibri"/>
              </a:rPr>
              <a:t>~US$10–16 B by 2030</a:t>
            </a:r>
          </a:p>
        </p:txBody>
      </p:sp>
      <p:sp>
        <p:nvSpPr>
          <p:cNvPr id="17422" name="TextBox 17421"/>
          <p:cNvSpPr txBox="1"/>
          <p:nvPr/>
        </p:nvSpPr>
        <p:spPr>
          <a:xfrm>
            <a:off x="1243584" y="3008375"/>
            <a:ext cx="2898648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2E7D32"/>
                </a:solidFill>
                <a:latin typeface="Calibri"/>
              </a:rPr>
              <a:t>Global DFIR —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Every organisation that must investigate a breach or hold evidence. Software + services.</a:t>
            </a:r>
          </a:p>
        </p:txBody>
      </p:sp>
      <p:sp>
        <p:nvSpPr>
          <p:cNvPr id="17423" name="Rounded Rectangle 17422"/>
          <p:cNvSpPr/>
          <p:nvPr/>
        </p:nvSpPr>
        <p:spPr>
          <a:xfrm>
            <a:off x="365760" y="3401568"/>
            <a:ext cx="3794759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4" name="TextBox 17423"/>
          <p:cNvSpPr txBox="1"/>
          <p:nvPr/>
        </p:nvSpPr>
        <p:spPr>
          <a:xfrm>
            <a:off x="420623" y="3410711"/>
            <a:ext cx="78638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2E75B6"/>
                </a:solidFill>
                <a:latin typeface="Calibri"/>
              </a:rPr>
              <a:t>SAM</a:t>
            </a:r>
          </a:p>
          <a:p>
            <a:pPr algn="l">
              <a:lnSpc>
                <a:spcPct val="85000"/>
              </a:lnSpc>
            </a:pPr>
            <a:r>
              <a:rPr sz="600" b="1" i="0">
                <a:solidFill>
                  <a:srgbClr val="536474"/>
                </a:solidFill>
                <a:latin typeface="Calibri"/>
              </a:rPr>
              <a:t>~US$0.3–0.5 B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1243584" y="3410711"/>
            <a:ext cx="2898648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2E75B6"/>
                </a:solidFill>
                <a:latin typeface="Calibri"/>
              </a:rPr>
              <a:t>Indian obligation-holders —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Cyber cells, CERT-In empanelled auditors, MSSPs and university labs with a legal duty to handle evidence.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65760" y="3803904"/>
            <a:ext cx="3794759" cy="3657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142B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420623" y="3813048"/>
            <a:ext cx="786384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1" i="0">
                <a:solidFill>
                  <a:srgbClr val="142B4A"/>
                </a:solidFill>
                <a:latin typeface="Calibri"/>
              </a:rPr>
              <a:t>SOM</a:t>
            </a:r>
          </a:p>
          <a:p>
            <a:pPr algn="l">
              <a:lnSpc>
                <a:spcPct val="85000"/>
              </a:lnSpc>
            </a:pPr>
            <a:r>
              <a:rPr sz="600" b="1" i="0">
                <a:solidFill>
                  <a:srgbClr val="536474"/>
                </a:solidFill>
                <a:latin typeface="Calibri"/>
              </a:rPr>
              <a:t>~US$20–40 M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1243584" y="3813048"/>
            <a:ext cx="2898648" cy="347472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Budget-constrained labs —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District cyber cells and university forensic labs on air-gapped workstations, where a free offline tool wins on day one.</a:t>
            </a:r>
          </a:p>
        </p:txBody>
      </p:sp>
      <p:sp>
        <p:nvSpPr>
          <p:cNvPr id="17429" name="Rounded Rectangle 17428"/>
          <p:cNvSpPr/>
          <p:nvPr/>
        </p:nvSpPr>
        <p:spPr>
          <a:xfrm>
            <a:off x="4370832" y="9144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0" name="Rounded Rectangle 17429"/>
          <p:cNvSpPr/>
          <p:nvPr/>
        </p:nvSpPr>
        <p:spPr>
          <a:xfrm>
            <a:off x="4370832" y="914400"/>
            <a:ext cx="3703320" cy="274320"/>
          </a:xfrm>
          <a:prstGeom prst="roundRect">
            <a:avLst>
              <a:gd name="adj" fmla="val 1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4462272" y="928115"/>
            <a:ext cx="352043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SWOT ANALYSIS</a:t>
            </a:r>
          </a:p>
        </p:txBody>
      </p:sp>
      <p:sp>
        <p:nvSpPr>
          <p:cNvPr id="17432" name="Rounded Rectangle 17431"/>
          <p:cNvSpPr/>
          <p:nvPr/>
        </p:nvSpPr>
        <p:spPr>
          <a:xfrm>
            <a:off x="4434840" y="1261872"/>
            <a:ext cx="1778508" cy="1417320"/>
          </a:xfrm>
          <a:prstGeom prst="roundRect">
            <a:avLst>
              <a:gd name="adj" fmla="val 6000"/>
            </a:avLst>
          </a:prstGeom>
          <a:solidFill>
            <a:srgbClr val="E3F2E4"/>
          </a:solidFill>
          <a:ln w="1270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3" name="Rounded Rectangle 17432"/>
          <p:cNvSpPr/>
          <p:nvPr/>
        </p:nvSpPr>
        <p:spPr>
          <a:xfrm>
            <a:off x="4434840" y="1261872"/>
            <a:ext cx="1778508" cy="182880"/>
          </a:xfrm>
          <a:prstGeom prst="roundRect">
            <a:avLst>
              <a:gd name="adj" fmla="val 3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4" name="TextBox 17433"/>
          <p:cNvSpPr txBox="1"/>
          <p:nvPr/>
        </p:nvSpPr>
        <p:spPr>
          <a:xfrm>
            <a:off x="4434840" y="1257300"/>
            <a:ext cx="177850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Calibri"/>
              </a:rPr>
              <a:t>S  ·  STRENGTHS</a:t>
            </a:r>
          </a:p>
        </p:txBody>
      </p:sp>
      <p:sp>
        <p:nvSpPr>
          <p:cNvPr id="17435" name="TextBox 17434"/>
          <p:cNvSpPr txBox="1"/>
          <p:nvPr/>
        </p:nvSpPr>
        <p:spPr>
          <a:xfrm>
            <a:off x="4489704" y="1481328"/>
            <a:ext cx="1668780" cy="11612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2E7D32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Zero dependencies — runs offline, air-gapped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2E7D32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Findings are citable by grammar, not by habit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2E7D32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50 unit tests; deterministic, reproducible runs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2E7D32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Loopback-only console, read-only evidence access</a:t>
            </a:r>
          </a:p>
        </p:txBody>
      </p:sp>
      <p:sp>
        <p:nvSpPr>
          <p:cNvPr id="17436" name="Rounded Rectangle 17435"/>
          <p:cNvSpPr/>
          <p:nvPr/>
        </p:nvSpPr>
        <p:spPr>
          <a:xfrm>
            <a:off x="6295644" y="1261872"/>
            <a:ext cx="1778508" cy="1417320"/>
          </a:xfrm>
          <a:prstGeom prst="roundRect">
            <a:avLst>
              <a:gd name="adj" fmla="val 6000"/>
            </a:avLst>
          </a:prstGeom>
          <a:solidFill>
            <a:srgbClr val="FBE9E7"/>
          </a:solidFill>
          <a:ln w="12700">
            <a:solidFill>
              <a:srgbClr val="B326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7" name="Rounded Rectangle 17436"/>
          <p:cNvSpPr/>
          <p:nvPr/>
        </p:nvSpPr>
        <p:spPr>
          <a:xfrm>
            <a:off x="6295644" y="1261872"/>
            <a:ext cx="1778508" cy="182880"/>
          </a:xfrm>
          <a:prstGeom prst="roundRect">
            <a:avLst>
              <a:gd name="adj" fmla="val 30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8" name="TextBox 17437"/>
          <p:cNvSpPr txBox="1"/>
          <p:nvPr/>
        </p:nvSpPr>
        <p:spPr>
          <a:xfrm>
            <a:off x="6295644" y="1257300"/>
            <a:ext cx="177850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Calibri"/>
              </a:rPr>
              <a:t>W  ·  WEAKNESSES</a:t>
            </a:r>
          </a:p>
        </p:txBody>
      </p:sp>
      <p:sp>
        <p:nvSpPr>
          <p:cNvPr id="17439" name="TextBox 17438"/>
          <p:cNvSpPr txBox="1"/>
          <p:nvPr/>
        </p:nvSpPr>
        <p:spPr>
          <a:xfrm>
            <a:off x="6350508" y="1481328"/>
            <a:ext cx="1668780" cy="11612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B3261E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Tree-walking interpreter: ~6k records/sec (measured)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B3261E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14 builtins — no EVTX / USN / MFT adapter yet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B3261E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Single-host console; no central case management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B3261E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Correlation is signature-based, not behavioural</a:t>
            </a:r>
          </a:p>
        </p:txBody>
      </p:sp>
      <p:sp>
        <p:nvSpPr>
          <p:cNvPr id="17440" name="Rounded Rectangle 17439"/>
          <p:cNvSpPr/>
          <p:nvPr/>
        </p:nvSpPr>
        <p:spPr>
          <a:xfrm>
            <a:off x="4434840" y="2770632"/>
            <a:ext cx="1778508" cy="1417320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1270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1" name="Rounded Rectangle 17440"/>
          <p:cNvSpPr/>
          <p:nvPr/>
        </p:nvSpPr>
        <p:spPr>
          <a:xfrm>
            <a:off x="4434840" y="2770632"/>
            <a:ext cx="1778508" cy="182880"/>
          </a:xfrm>
          <a:prstGeom prst="roundRect">
            <a:avLst>
              <a:gd name="adj" fmla="val 3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2" name="TextBox 17441"/>
          <p:cNvSpPr txBox="1"/>
          <p:nvPr/>
        </p:nvSpPr>
        <p:spPr>
          <a:xfrm>
            <a:off x="4434840" y="2766060"/>
            <a:ext cx="177850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Calibri"/>
              </a:rPr>
              <a:t>O  ·  OPPORTUNITIES</a:t>
            </a:r>
          </a:p>
        </p:txBody>
      </p:sp>
      <p:sp>
        <p:nvSpPr>
          <p:cNvPr id="17443" name="TextBox 17442"/>
          <p:cNvSpPr txBox="1"/>
          <p:nvPr/>
        </p:nvSpPr>
        <p:spPr>
          <a:xfrm>
            <a:off x="4489704" y="2990088"/>
            <a:ext cx="1668780" cy="11612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DPDP Act 2023 and CERT-In norms create evidence-handling duties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Sigma / ATT&amp;CK mapping is a natural next layer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University curricula need a teachable forensic language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Edge and IoT forensics need small, offline tooling</a:t>
            </a:r>
          </a:p>
        </p:txBody>
      </p:sp>
      <p:sp>
        <p:nvSpPr>
          <p:cNvPr id="17444" name="Rounded Rectangle 17443"/>
          <p:cNvSpPr/>
          <p:nvPr/>
        </p:nvSpPr>
        <p:spPr>
          <a:xfrm>
            <a:off x="6295644" y="2770632"/>
            <a:ext cx="1778508" cy="1417320"/>
          </a:xfrm>
          <a:prstGeom prst="roundRect">
            <a:avLst>
              <a:gd name="adj" fmla="val 6000"/>
            </a:avLst>
          </a:prstGeom>
          <a:solidFill>
            <a:srgbClr val="FDF1DF"/>
          </a:solidFill>
          <a:ln w="12700">
            <a:solidFill>
              <a:srgbClr val="B26A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5" name="Rounded Rectangle 17444"/>
          <p:cNvSpPr/>
          <p:nvPr/>
        </p:nvSpPr>
        <p:spPr>
          <a:xfrm>
            <a:off x="6295644" y="2770632"/>
            <a:ext cx="1778508" cy="182880"/>
          </a:xfrm>
          <a:prstGeom prst="roundRect">
            <a:avLst>
              <a:gd name="adj" fmla="val 30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6" name="TextBox 17445"/>
          <p:cNvSpPr txBox="1"/>
          <p:nvPr/>
        </p:nvSpPr>
        <p:spPr>
          <a:xfrm>
            <a:off x="6295644" y="2766060"/>
            <a:ext cx="1778508" cy="192024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ctr"/>
            <a:r>
              <a:rPr sz="720" b="1" i="0">
                <a:solidFill>
                  <a:srgbClr val="FFFFFF"/>
                </a:solidFill>
                <a:latin typeface="Calibri"/>
              </a:rPr>
              <a:t>T  ·  THREATS</a:t>
            </a:r>
          </a:p>
        </p:txBody>
      </p:sp>
      <p:sp>
        <p:nvSpPr>
          <p:cNvPr id="17447" name="TextBox 17446"/>
          <p:cNvSpPr txBox="1"/>
          <p:nvPr/>
        </p:nvSpPr>
        <p:spPr>
          <a:xfrm>
            <a:off x="6350508" y="2990088"/>
            <a:ext cx="1668780" cy="1161288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B26A00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Commercial suites bundled into lab contracts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B26A00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Free incumbents (plaso, Hayabusa, Velociraptor) already trusted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B26A00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Language adoption is slow without a script-sharing community</a:t>
            </a:r>
          </a:p>
          <a:p>
            <a:pPr algn="l">
              <a:lnSpc>
                <a:spcPct val="96000"/>
              </a:lnSpc>
              <a:spcAft>
                <a:spcPts val="240"/>
              </a:spcAft>
            </a:pPr>
            <a:r>
              <a:rPr sz="640" b="1" i="0">
                <a:solidFill>
                  <a:srgbClr val="B26A00"/>
                </a:solidFill>
                <a:latin typeface="Calibri"/>
              </a:rPr>
              <a:t>▪  </a:t>
            </a:r>
            <a:r>
              <a:rPr sz="640" b="0" i="0">
                <a:solidFill>
                  <a:srgbClr val="1A1A1A"/>
                </a:solidFill>
                <a:latin typeface="Calibri"/>
              </a:rPr>
              <a:t>Evidence formats change with every OS release</a:t>
            </a:r>
          </a:p>
        </p:txBody>
      </p:sp>
      <p:sp>
        <p:nvSpPr>
          <p:cNvPr id="17448" name="Rounded Rectangle 17447"/>
          <p:cNvSpPr/>
          <p:nvPr/>
        </p:nvSpPr>
        <p:spPr>
          <a:xfrm>
            <a:off x="8211312" y="914400"/>
            <a:ext cx="3703320" cy="3383280"/>
          </a:xfrm>
          <a:prstGeom prst="roundRect">
            <a:avLst>
              <a:gd name="adj" fmla="val 6000"/>
            </a:avLst>
          </a:prstGeom>
          <a:solidFill>
            <a:srgbClr val="E4F2F1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9" name="Rounded Rectangle 17448"/>
          <p:cNvSpPr/>
          <p:nvPr/>
        </p:nvSpPr>
        <p:spPr>
          <a:xfrm>
            <a:off x="8211312" y="914400"/>
            <a:ext cx="3703320" cy="274320"/>
          </a:xfrm>
          <a:prstGeom prst="roundRect">
            <a:avLst>
              <a:gd name="adj" fmla="val 16000"/>
            </a:avLst>
          </a:prstGeom>
          <a:solidFill>
            <a:srgbClr val="0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0" name="TextBox 17449"/>
          <p:cNvSpPr txBox="1"/>
          <p:nvPr/>
        </p:nvSpPr>
        <p:spPr>
          <a:xfrm>
            <a:off x="8302752" y="928115"/>
            <a:ext cx="352043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IMPACT</a:t>
            </a:r>
          </a:p>
        </p:txBody>
      </p:sp>
      <p:sp>
        <p:nvSpPr>
          <p:cNvPr id="17451" name="Rounded Rectangle 17450"/>
          <p:cNvSpPr/>
          <p:nvPr/>
        </p:nvSpPr>
        <p:spPr>
          <a:xfrm>
            <a:off x="8293608" y="1261872"/>
            <a:ext cx="3538727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006A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2" name="Rounded Rectangle 17451"/>
          <p:cNvSpPr/>
          <p:nvPr/>
        </p:nvSpPr>
        <p:spPr>
          <a:xfrm>
            <a:off x="8293608" y="1261872"/>
            <a:ext cx="59436" cy="969264"/>
          </a:xfrm>
          <a:prstGeom prst="roundRect">
            <a:avLst>
              <a:gd name="adj" fmla="val 40000"/>
            </a:avLst>
          </a:prstGeom>
          <a:solidFill>
            <a:srgbClr val="0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3" name="TextBox 17452"/>
          <p:cNvSpPr txBox="1"/>
          <p:nvPr/>
        </p:nvSpPr>
        <p:spPr>
          <a:xfrm>
            <a:off x="8403336" y="1307592"/>
            <a:ext cx="3392424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780" b="1" i="0">
                <a:solidFill>
                  <a:srgbClr val="006A6A"/>
                </a:solidFill>
                <a:latin typeface="Calibri"/>
              </a:rPr>
              <a:t>SOCIAL</a:t>
            </a:r>
          </a:p>
          <a:p>
            <a:pPr algn="l">
              <a:lnSpc>
                <a:spcPct val="94000"/>
              </a:lnSpc>
            </a:pPr>
            <a:r>
              <a:rPr sz="720" b="0" i="0">
                <a:solidFill>
                  <a:srgbClr val="1A1A1A"/>
                </a:solidFill>
                <a:latin typeface="Calibri"/>
              </a:rPr>
              <a:t>A small cyber cell can defend its conclusion in court, and a citizen whose device was seized can see the reasoning behind the finding. Forensic conclusions stop being an expert's private judgement.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8293608" y="2286000"/>
            <a:ext cx="3538727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5" name="Rounded Rectangle 17454"/>
          <p:cNvSpPr/>
          <p:nvPr/>
        </p:nvSpPr>
        <p:spPr>
          <a:xfrm>
            <a:off x="8293608" y="2286000"/>
            <a:ext cx="59436" cy="969264"/>
          </a:xfrm>
          <a:prstGeom prst="roundRect">
            <a:avLst>
              <a:gd name="adj" fmla="val 40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6" name="TextBox 17455"/>
          <p:cNvSpPr txBox="1"/>
          <p:nvPr/>
        </p:nvSpPr>
        <p:spPr>
          <a:xfrm>
            <a:off x="8403336" y="2331720"/>
            <a:ext cx="3392424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780" b="1" i="0">
                <a:solidFill>
                  <a:srgbClr val="2E7D32"/>
                </a:solidFill>
                <a:latin typeface="Calibri"/>
              </a:rPr>
              <a:t>ECONOMIC</a:t>
            </a:r>
          </a:p>
          <a:p>
            <a:pPr algn="l">
              <a:lnSpc>
                <a:spcPct val="94000"/>
              </a:lnSpc>
            </a:pPr>
            <a:r>
              <a:rPr sz="720" b="0" i="0">
                <a:solidFill>
                  <a:srgbClr val="1A1A1A"/>
                </a:solidFill>
                <a:latin typeface="Calibri"/>
              </a:rPr>
              <a:t>Removes a paid-tool dependency for labs that cannot license commercial DFIR suites, and removes re-work: one reviewable, cited script replaces a chain of throwaway scripts re-validated per case.</a:t>
            </a:r>
          </a:p>
        </p:txBody>
      </p:sp>
      <p:sp>
        <p:nvSpPr>
          <p:cNvPr id="17457" name="Rounded Rectangle 17456"/>
          <p:cNvSpPr/>
          <p:nvPr/>
        </p:nvSpPr>
        <p:spPr>
          <a:xfrm>
            <a:off x="8293608" y="3310128"/>
            <a:ext cx="3538727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8" name="Rounded Rectangle 17457"/>
          <p:cNvSpPr/>
          <p:nvPr/>
        </p:nvSpPr>
        <p:spPr>
          <a:xfrm>
            <a:off x="8293608" y="3310128"/>
            <a:ext cx="59436" cy="969264"/>
          </a:xfrm>
          <a:prstGeom prst="roundRect">
            <a:avLst>
              <a:gd name="adj" fmla="val 40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8403336" y="3355848"/>
            <a:ext cx="3392424" cy="8961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780" b="1" i="0">
                <a:solidFill>
                  <a:srgbClr val="2E75B6"/>
                </a:solidFill>
                <a:latin typeface="Calibri"/>
              </a:rPr>
              <a:t>INDUSTRY</a:t>
            </a:r>
          </a:p>
          <a:p>
            <a:pPr algn="l">
              <a:lnSpc>
                <a:spcPct val="94000"/>
              </a:lnSpc>
            </a:pPr>
            <a:r>
              <a:rPr sz="720" b="0" i="0">
                <a:solidFill>
                  <a:srgbClr val="1A1A1A"/>
                </a:solidFill>
                <a:latin typeface="Calibri"/>
              </a:rPr>
              <a:t>Gives DFIR a shared, versionable language. Investigation scripts become portable artefacts that can be peer-reviewed and exchanged between agencies — what Sigma did for detection rules.</a:t>
            </a:r>
          </a:p>
        </p:txBody>
      </p:sp>
      <p:sp>
        <p:nvSpPr>
          <p:cNvPr id="17460" name="Rounded Rectangle 17459"/>
          <p:cNvSpPr/>
          <p:nvPr/>
        </p:nvSpPr>
        <p:spPr>
          <a:xfrm>
            <a:off x="274320" y="4425696"/>
            <a:ext cx="7635240" cy="160934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1" name="Rounded Rectangle 17460"/>
          <p:cNvSpPr/>
          <p:nvPr/>
        </p:nvSpPr>
        <p:spPr>
          <a:xfrm>
            <a:off x="274320" y="4425696"/>
            <a:ext cx="7635240" cy="274320"/>
          </a:xfrm>
          <a:prstGeom prst="roundRect">
            <a:avLst>
              <a:gd name="adj" fmla="val 1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2" name="TextBox 17461"/>
          <p:cNvSpPr txBox="1"/>
          <p:nvPr/>
        </p:nvSpPr>
        <p:spPr>
          <a:xfrm>
            <a:off x="365760" y="4439412"/>
            <a:ext cx="745236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WHO THIS REACHES FIRST</a:t>
            </a:r>
          </a:p>
        </p:txBody>
      </p:sp>
      <p:sp>
        <p:nvSpPr>
          <p:cNvPr id="17463" name="TextBox 17462"/>
          <p:cNvSpPr txBox="1"/>
          <p:nvPr/>
        </p:nvSpPr>
        <p:spPr>
          <a:xfrm>
            <a:off x="365760" y="4754880"/>
            <a:ext cx="7452360" cy="12435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350"/>
              </a:spcAft>
            </a:pPr>
            <a:r>
              <a:rPr sz="76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760" b="1" i="0">
                <a:solidFill>
                  <a:srgbClr val="142B4A"/>
                </a:solidFill>
                <a:latin typeface="Calibri"/>
              </a:rPr>
              <a:t>District cyber cells and state CID units. </a:t>
            </a:r>
            <a:r>
              <a:rPr sz="760" b="0" i="0">
                <a:solidFill>
                  <a:srgbClr val="1A1A1A"/>
                </a:solidFill>
                <a:latin typeface="Calibri"/>
              </a:rPr>
              <a:t>Small teams, mixed caseloads, no budget for per-seat commercial licences — and a legal duty to document what they did.</a:t>
            </a:r>
          </a:p>
          <a:p>
            <a:pPr algn="l">
              <a:lnSpc>
                <a:spcPct val="96000"/>
              </a:lnSpc>
              <a:spcAft>
                <a:spcPts val="350"/>
              </a:spcAft>
            </a:pPr>
            <a:r>
              <a:rPr sz="76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760" b="1" i="0">
                <a:solidFill>
                  <a:srgbClr val="142B4A"/>
                </a:solidFill>
                <a:latin typeface="Calibri"/>
              </a:rPr>
              <a:t>CERT-In empanelled auditors and MSSPs. </a:t>
            </a:r>
            <a:r>
              <a:rPr sz="760" b="0" i="0">
                <a:solidFill>
                  <a:srgbClr val="1A1A1A"/>
                </a:solidFill>
                <a:latin typeface="Calibri"/>
              </a:rPr>
              <a:t>Repeatable scripts turn a per-engagement method into a reviewable, transferable asset.</a:t>
            </a:r>
          </a:p>
          <a:p>
            <a:pPr algn="l">
              <a:lnSpc>
                <a:spcPct val="96000"/>
              </a:lnSpc>
              <a:spcAft>
                <a:spcPts val="350"/>
              </a:spcAft>
            </a:pPr>
            <a:r>
              <a:rPr sz="76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760" b="1" i="0">
                <a:solidFill>
                  <a:srgbClr val="142B4A"/>
                </a:solidFill>
                <a:latin typeface="Calibri"/>
              </a:rPr>
              <a:t>University and police forensic labs. </a:t>
            </a:r>
            <a:r>
              <a:rPr sz="760" b="0" i="0">
                <a:solidFill>
                  <a:srgbClr val="1A1A1A"/>
                </a:solidFill>
                <a:latin typeface="Calibri"/>
              </a:rPr>
              <a:t>An air-gapped workstation is the normal environment, not the exception — and a readable language is teachable.</a:t>
            </a:r>
          </a:p>
          <a:p>
            <a:pPr algn="l">
              <a:lnSpc>
                <a:spcPct val="96000"/>
              </a:lnSpc>
              <a:spcAft>
                <a:spcPts val="350"/>
              </a:spcAft>
            </a:pPr>
            <a:r>
              <a:rPr sz="76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760" b="1" i="0">
                <a:solidFill>
                  <a:srgbClr val="142B4A"/>
                </a:solidFill>
                <a:latin typeface="Calibri"/>
              </a:rPr>
              <a:t>The examiner herself. </a:t>
            </a:r>
            <a:r>
              <a:rPr sz="760" b="0" i="0">
                <a:solidFill>
                  <a:srgbClr val="1A1A1A"/>
                </a:solidFill>
                <a:latin typeface="Calibri"/>
              </a:rPr>
              <a:t>The console shows the query behind every finding, so a conclusion can be checked rather than taken on trust.</a:t>
            </a:r>
          </a:p>
        </p:txBody>
      </p:sp>
      <p:sp>
        <p:nvSpPr>
          <p:cNvPr id="17464" name="Rounded Rectangle 17463"/>
          <p:cNvSpPr/>
          <p:nvPr/>
        </p:nvSpPr>
        <p:spPr>
          <a:xfrm>
            <a:off x="8211312" y="4425696"/>
            <a:ext cx="3703320" cy="1609344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5" name="Rounded Rectangle 17464"/>
          <p:cNvSpPr/>
          <p:nvPr/>
        </p:nvSpPr>
        <p:spPr>
          <a:xfrm>
            <a:off x="8211312" y="4425696"/>
            <a:ext cx="3703320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6" name="TextBox 17465"/>
          <p:cNvSpPr txBox="1"/>
          <p:nvPr/>
        </p:nvSpPr>
        <p:spPr>
          <a:xfrm>
            <a:off x="8302752" y="4439412"/>
            <a:ext cx="3520439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AT A GLANCE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8302752" y="4754880"/>
            <a:ext cx="3520440" cy="124358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400"/>
              </a:spcAft>
            </a:pPr>
            <a:r>
              <a:rPr sz="76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760" b="1" i="0">
                <a:solidFill>
                  <a:srgbClr val="142B4A"/>
                </a:solidFill>
                <a:latin typeface="Calibri"/>
              </a:rPr>
              <a:t>0</a:t>
            </a:r>
            <a:r>
              <a:rPr sz="760" b="0" i="0">
                <a:solidFill>
                  <a:srgbClr val="1A1A1A"/>
                </a:solidFill>
                <a:latin typeface="Calibri"/>
              </a:rPr>
              <a:t> — licence cost per seat; nothing to renew.</a:t>
            </a:r>
          </a:p>
          <a:p>
            <a:pPr algn="l">
              <a:lnSpc>
                <a:spcPct val="96000"/>
              </a:lnSpc>
              <a:spcAft>
                <a:spcPts val="400"/>
              </a:spcAft>
            </a:pPr>
            <a:r>
              <a:rPr sz="76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760" b="1" i="0">
                <a:solidFill>
                  <a:srgbClr val="142B4A"/>
                </a:solidFill>
                <a:latin typeface="Calibri"/>
              </a:rPr>
              <a:t>Air-gapped</a:t>
            </a:r>
            <a:r>
              <a:rPr sz="760" b="0" i="0">
                <a:solidFill>
                  <a:srgbClr val="1A1A1A"/>
                </a:solidFill>
                <a:latin typeface="Calibri"/>
              </a:rPr>
              <a:t> — no network calls; the console binds loopback.</a:t>
            </a:r>
          </a:p>
          <a:p>
            <a:pPr algn="l">
              <a:lnSpc>
                <a:spcPct val="96000"/>
              </a:lnSpc>
              <a:spcAft>
                <a:spcPts val="400"/>
              </a:spcAft>
            </a:pPr>
            <a:r>
              <a:rPr sz="76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760" b="1" i="0">
                <a:solidFill>
                  <a:srgbClr val="142B4A"/>
                </a:solidFill>
                <a:latin typeface="Calibri"/>
              </a:rPr>
              <a:t>Cited</a:t>
            </a:r>
            <a:r>
              <a:rPr sz="760" b="0" i="0">
                <a:solidFill>
                  <a:srgbClr val="1A1A1A"/>
                </a:solidFill>
                <a:latin typeface="Calibri"/>
              </a:rPr>
              <a:t> — every finding names the query that raised it.</a:t>
            </a:r>
          </a:p>
          <a:p>
            <a:pPr algn="l">
              <a:lnSpc>
                <a:spcPct val="96000"/>
              </a:lnSpc>
              <a:spcAft>
                <a:spcPts val="400"/>
              </a:spcAft>
            </a:pPr>
            <a:r>
              <a:rPr sz="760" b="1" i="0">
                <a:solidFill>
                  <a:srgbClr val="2E75B6"/>
                </a:solidFill>
                <a:latin typeface="Calibri"/>
              </a:rPr>
              <a:t>▪  </a:t>
            </a:r>
            <a:r>
              <a:rPr sz="760" b="1" i="0">
                <a:solidFill>
                  <a:srgbClr val="142B4A"/>
                </a:solidFill>
                <a:latin typeface="Calibri"/>
              </a:rPr>
              <a:t>Read-only</a:t>
            </a:r>
            <a:r>
              <a:rPr sz="760" b="0" i="0">
                <a:solidFill>
                  <a:srgbClr val="1A1A1A"/>
                </a:solidFill>
                <a:latin typeface="Calibri"/>
              </a:rPr>
              <a:t> — evidence is digested at open, never modified.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274320" y="6071616"/>
            <a:ext cx="11640312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620" b="0" i="1">
                <a:solidFill>
                  <a:srgbClr val="7A8A99"/>
                </a:solidFill>
                <a:latin typeface="Calibri"/>
              </a:rPr>
              <a:t>Sizing is a top-down estimate from published DFIR market analyses, not a vendor forecast; the method and assumptions are recorded in the repository README.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320040" y="274320"/>
            <a:ext cx="11887200" cy="384048"/>
          </a:xfrm>
        </p:spPr>
        <p:txBody>
          <a:bodyPr wrap="square" anchor="t" lIns="0" tIns="0" bIns="0">
            <a:noAutofit/>
          </a:bodyPr>
          <a:lstStyle/>
          <a:p>
            <a:pPr eaLnBrk="1" hangingPunct="1"/>
            <a:r>
              <a:rPr sz="2600" b="1">
                <a:solidFill>
                  <a:srgbClr val="142B4A"/>
                </a:solidFill>
                <a:latin typeface="Calibri"/>
              </a:rP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1645920" y="772668"/>
            <a:ext cx="7909560" cy="14630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sz="600" i="1">
                <a:solidFill>
                  <a:srgbClr val="7A8A99"/>
                </a:solidFill>
                <a:latin typeface="Calibri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900">
                <a:solidFill>
                  <a:srgbClr val="FFFFFF"/>
                </a:solidFill>
                <a:latin typeface="Calibri"/>
              </a:rPr>
              <a:t>@SIH Idea submission – PPT – Team Data_Drishti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  <a:solidFill>
            <a:srgbClr val="142B4A"/>
          </a:solidFill>
          <a:ln>
            <a:solidFill>
              <a:srgbClr val="142B4A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Data_Drishti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Rounded Rectangle 17410"/>
          <p:cNvSpPr/>
          <p:nvPr/>
        </p:nvSpPr>
        <p:spPr>
          <a:xfrm>
            <a:off x="274320" y="914400"/>
            <a:ext cx="5760720" cy="4206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2" name="Rounded Rectangle 17411"/>
          <p:cNvSpPr/>
          <p:nvPr/>
        </p:nvSpPr>
        <p:spPr>
          <a:xfrm>
            <a:off x="274320" y="914400"/>
            <a:ext cx="5760720" cy="274320"/>
          </a:xfrm>
          <a:prstGeom prst="roundRect">
            <a:avLst>
              <a:gd name="adj" fmla="val 1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3" name="TextBox 17412"/>
          <p:cNvSpPr txBox="1"/>
          <p:nvPr/>
        </p:nvSpPr>
        <p:spPr>
          <a:xfrm>
            <a:off x="365760" y="928115"/>
            <a:ext cx="5577840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STANDARDS AND WORKS IMPLEMENTED OR CITED</a:t>
            </a:r>
          </a:p>
        </p:txBody>
      </p:sp>
      <p:sp>
        <p:nvSpPr>
          <p:cNvPr id="17414" name="Rounded Rectangle 17413"/>
          <p:cNvSpPr/>
          <p:nvPr/>
        </p:nvSpPr>
        <p:spPr>
          <a:xfrm>
            <a:off x="338328" y="1234439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5" name="TextBox 17414"/>
          <p:cNvSpPr txBox="1"/>
          <p:nvPr/>
        </p:nvSpPr>
        <p:spPr>
          <a:xfrm>
            <a:off x="393192" y="1234439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1.</a:t>
            </a:r>
          </a:p>
        </p:txBody>
      </p:sp>
      <p:sp>
        <p:nvSpPr>
          <p:cNvPr id="17416" name="TextBox 17415"/>
          <p:cNvSpPr txBox="1"/>
          <p:nvPr/>
        </p:nvSpPr>
        <p:spPr>
          <a:xfrm>
            <a:off x="640080" y="1234439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NIST SP 800-86</a:t>
            </a:r>
          </a:p>
        </p:txBody>
      </p:sp>
      <p:sp>
        <p:nvSpPr>
          <p:cNvPr id="17417" name="TextBox 17416"/>
          <p:cNvSpPr txBox="1"/>
          <p:nvPr/>
        </p:nvSpPr>
        <p:spPr>
          <a:xfrm>
            <a:off x="2194560" y="1234439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Guide to Integrating Forensic Techniques into Incident Response — the collection / analysis / reporting workflow the case model follows.</a:t>
            </a:r>
          </a:p>
        </p:txBody>
      </p:sp>
      <p:sp>
        <p:nvSpPr>
          <p:cNvPr id="17418" name="Rounded Rectangle 17417"/>
          <p:cNvSpPr/>
          <p:nvPr/>
        </p:nvSpPr>
        <p:spPr>
          <a:xfrm>
            <a:off x="338328" y="1552651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19" name="TextBox 17418"/>
          <p:cNvSpPr txBox="1"/>
          <p:nvPr/>
        </p:nvSpPr>
        <p:spPr>
          <a:xfrm>
            <a:off x="393192" y="1552651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2.</a:t>
            </a:r>
          </a:p>
        </p:txBody>
      </p:sp>
      <p:sp>
        <p:nvSpPr>
          <p:cNvPr id="17420" name="TextBox 17419"/>
          <p:cNvSpPr txBox="1"/>
          <p:nvPr/>
        </p:nvSpPr>
        <p:spPr>
          <a:xfrm>
            <a:off x="640080" y="1552651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RFC 3227</a:t>
            </a:r>
          </a:p>
        </p:txBody>
      </p:sp>
      <p:sp>
        <p:nvSpPr>
          <p:cNvPr id="17421" name="TextBox 17420"/>
          <p:cNvSpPr txBox="1"/>
          <p:nvPr/>
        </p:nvSpPr>
        <p:spPr>
          <a:xfrm>
            <a:off x="2194560" y="1552651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Guidelines for Evidence Collection and Archiving — order of volatility governs what JOCKY ingests first.</a:t>
            </a:r>
          </a:p>
        </p:txBody>
      </p:sp>
      <p:sp>
        <p:nvSpPr>
          <p:cNvPr id="17422" name="Rounded Rectangle 17421"/>
          <p:cNvSpPr/>
          <p:nvPr/>
        </p:nvSpPr>
        <p:spPr>
          <a:xfrm>
            <a:off x="338328" y="1870862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3" name="TextBox 17422"/>
          <p:cNvSpPr txBox="1"/>
          <p:nvPr/>
        </p:nvSpPr>
        <p:spPr>
          <a:xfrm>
            <a:off x="393192" y="1870862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3.</a:t>
            </a:r>
          </a:p>
        </p:txBody>
      </p:sp>
      <p:sp>
        <p:nvSpPr>
          <p:cNvPr id="17424" name="TextBox 17423"/>
          <p:cNvSpPr txBox="1"/>
          <p:nvPr/>
        </p:nvSpPr>
        <p:spPr>
          <a:xfrm>
            <a:off x="640080" y="1870862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ISO/IEC 27037:2012</a:t>
            </a:r>
          </a:p>
        </p:txBody>
      </p:sp>
      <p:sp>
        <p:nvSpPr>
          <p:cNvPr id="17425" name="TextBox 17424"/>
          <p:cNvSpPr txBox="1"/>
          <p:nvPr/>
        </p:nvSpPr>
        <p:spPr>
          <a:xfrm>
            <a:off x="2194560" y="1870862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Identification, collection, acquisition and preservation of digital evidence.</a:t>
            </a:r>
          </a:p>
        </p:txBody>
      </p:sp>
      <p:sp>
        <p:nvSpPr>
          <p:cNvPr id="17426" name="Rounded Rectangle 17425"/>
          <p:cNvSpPr/>
          <p:nvPr/>
        </p:nvSpPr>
        <p:spPr>
          <a:xfrm>
            <a:off x="338328" y="2189073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27" name="TextBox 17426"/>
          <p:cNvSpPr txBox="1"/>
          <p:nvPr/>
        </p:nvSpPr>
        <p:spPr>
          <a:xfrm>
            <a:off x="393192" y="2189073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4.</a:t>
            </a:r>
          </a:p>
        </p:txBody>
      </p:sp>
      <p:sp>
        <p:nvSpPr>
          <p:cNvPr id="17428" name="TextBox 17427"/>
          <p:cNvSpPr txBox="1"/>
          <p:nvPr/>
        </p:nvSpPr>
        <p:spPr>
          <a:xfrm>
            <a:off x="640080" y="2189073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NIST SP 800-61r2</a:t>
            </a:r>
          </a:p>
        </p:txBody>
      </p:sp>
      <p:sp>
        <p:nvSpPr>
          <p:cNvPr id="17429" name="TextBox 17428"/>
          <p:cNvSpPr txBox="1"/>
          <p:nvPr/>
        </p:nvSpPr>
        <p:spPr>
          <a:xfrm>
            <a:off x="2194560" y="2189073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Computer Security Incident Handling Guide — the triage-first workflow triage.jky implements.</a:t>
            </a:r>
          </a:p>
        </p:txBody>
      </p:sp>
      <p:sp>
        <p:nvSpPr>
          <p:cNvPr id="17430" name="Rounded Rectangle 17429"/>
          <p:cNvSpPr/>
          <p:nvPr/>
        </p:nvSpPr>
        <p:spPr>
          <a:xfrm>
            <a:off x="338328" y="2507284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1" name="TextBox 17430"/>
          <p:cNvSpPr txBox="1"/>
          <p:nvPr/>
        </p:nvSpPr>
        <p:spPr>
          <a:xfrm>
            <a:off x="393192" y="2507284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5.</a:t>
            </a:r>
          </a:p>
        </p:txBody>
      </p:sp>
      <p:sp>
        <p:nvSpPr>
          <p:cNvPr id="17432" name="TextBox 17431"/>
          <p:cNvSpPr txBox="1"/>
          <p:nvPr/>
        </p:nvSpPr>
        <p:spPr>
          <a:xfrm>
            <a:off x="640080" y="2507284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MITRE ATT&amp;CK</a:t>
            </a:r>
          </a:p>
        </p:txBody>
      </p:sp>
      <p:sp>
        <p:nvSpPr>
          <p:cNvPr id="17433" name="TextBox 17432"/>
          <p:cNvSpPr txBox="1"/>
          <p:nvPr/>
        </p:nvSpPr>
        <p:spPr>
          <a:xfrm>
            <a:off x="2194560" y="2507284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Technique vocabulary the findings map to (T1059, T1071, T1070.001).</a:t>
            </a:r>
          </a:p>
        </p:txBody>
      </p:sp>
      <p:sp>
        <p:nvSpPr>
          <p:cNvPr id="17434" name="Rounded Rectangle 17433"/>
          <p:cNvSpPr/>
          <p:nvPr/>
        </p:nvSpPr>
        <p:spPr>
          <a:xfrm>
            <a:off x="338328" y="2825495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5" name="TextBox 17434"/>
          <p:cNvSpPr txBox="1"/>
          <p:nvPr/>
        </p:nvSpPr>
        <p:spPr>
          <a:xfrm>
            <a:off x="393192" y="2825495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6.</a:t>
            </a:r>
          </a:p>
        </p:txBody>
      </p:sp>
      <p:sp>
        <p:nvSpPr>
          <p:cNvPr id="17436" name="TextBox 17435"/>
          <p:cNvSpPr txBox="1"/>
          <p:nvPr/>
        </p:nvSpPr>
        <p:spPr>
          <a:xfrm>
            <a:off x="640080" y="2825495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Sigma</a:t>
            </a:r>
          </a:p>
        </p:txBody>
      </p:sp>
      <p:sp>
        <p:nvSpPr>
          <p:cNvPr id="17437" name="TextBox 17436"/>
          <p:cNvSpPr txBox="1"/>
          <p:nvPr/>
        </p:nvSpPr>
        <p:spPr>
          <a:xfrm>
            <a:off x="2194560" y="2825495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Prior art for a portable, shareable detection language; JOCKY is the forensic analogue.</a:t>
            </a:r>
          </a:p>
        </p:txBody>
      </p:sp>
      <p:sp>
        <p:nvSpPr>
          <p:cNvPr id="17438" name="Rounded Rectangle 17437"/>
          <p:cNvSpPr/>
          <p:nvPr/>
        </p:nvSpPr>
        <p:spPr>
          <a:xfrm>
            <a:off x="338328" y="3143707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39" name="TextBox 17438"/>
          <p:cNvSpPr txBox="1"/>
          <p:nvPr/>
        </p:nvSpPr>
        <p:spPr>
          <a:xfrm>
            <a:off x="393192" y="3143707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7.</a:t>
            </a:r>
          </a:p>
        </p:txBody>
      </p:sp>
      <p:sp>
        <p:nvSpPr>
          <p:cNvPr id="17440" name="TextBox 17439"/>
          <p:cNvSpPr txBox="1"/>
          <p:nvPr/>
        </p:nvSpPr>
        <p:spPr>
          <a:xfrm>
            <a:off x="640080" y="3143707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Velociraptor VQL</a:t>
            </a:r>
          </a:p>
        </p:txBody>
      </p:sp>
      <p:sp>
        <p:nvSpPr>
          <p:cNvPr id="17441" name="TextBox 17440"/>
          <p:cNvSpPr txBox="1"/>
          <p:nvPr/>
        </p:nvSpPr>
        <p:spPr>
          <a:xfrm>
            <a:off x="2194560" y="3143707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Closest existing art — a query language for endpoint DFIR; JOCKY adds cited findings and reproducible reports.</a:t>
            </a:r>
          </a:p>
        </p:txBody>
      </p:sp>
      <p:sp>
        <p:nvSpPr>
          <p:cNvPr id="17442" name="Rounded Rectangle 17441"/>
          <p:cNvSpPr/>
          <p:nvPr/>
        </p:nvSpPr>
        <p:spPr>
          <a:xfrm>
            <a:off x="338328" y="3461918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3" name="TextBox 17442"/>
          <p:cNvSpPr txBox="1"/>
          <p:nvPr/>
        </p:nvSpPr>
        <p:spPr>
          <a:xfrm>
            <a:off x="393192" y="3461918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8.</a:t>
            </a:r>
          </a:p>
        </p:txBody>
      </p:sp>
      <p:sp>
        <p:nvSpPr>
          <p:cNvPr id="17444" name="TextBox 17443"/>
          <p:cNvSpPr txBox="1"/>
          <p:nvPr/>
        </p:nvSpPr>
        <p:spPr>
          <a:xfrm>
            <a:off x="640080" y="3461918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plaso · Chainsaw · Hayabusa</a:t>
            </a:r>
          </a:p>
        </p:txBody>
      </p:sp>
      <p:sp>
        <p:nvSpPr>
          <p:cNvPr id="17445" name="TextBox 17444"/>
          <p:cNvSpPr txBox="1"/>
          <p:nvPr/>
        </p:nvSpPr>
        <p:spPr>
          <a:xfrm>
            <a:off x="2194560" y="3461918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Timeline and EVTX tooling the timeline stage is measured against.</a:t>
            </a:r>
          </a:p>
        </p:txBody>
      </p:sp>
      <p:sp>
        <p:nvSpPr>
          <p:cNvPr id="17446" name="Rounded Rectangle 17445"/>
          <p:cNvSpPr/>
          <p:nvPr/>
        </p:nvSpPr>
        <p:spPr>
          <a:xfrm>
            <a:off x="338328" y="3780129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47" name="TextBox 17446"/>
          <p:cNvSpPr txBox="1"/>
          <p:nvPr/>
        </p:nvSpPr>
        <p:spPr>
          <a:xfrm>
            <a:off x="393192" y="3780129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9.</a:t>
            </a:r>
          </a:p>
        </p:txBody>
      </p:sp>
      <p:sp>
        <p:nvSpPr>
          <p:cNvPr id="17448" name="TextBox 17447"/>
          <p:cNvSpPr txBox="1"/>
          <p:nvPr/>
        </p:nvSpPr>
        <p:spPr>
          <a:xfrm>
            <a:off x="640080" y="3780129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E. Zimmerman's tools</a:t>
            </a:r>
          </a:p>
        </p:txBody>
      </p:sp>
      <p:sp>
        <p:nvSpPr>
          <p:cNvPr id="17449" name="TextBox 17448"/>
          <p:cNvSpPr txBox="1"/>
          <p:nvPr/>
        </p:nvSpPr>
        <p:spPr>
          <a:xfrm>
            <a:off x="2194560" y="3780129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De-facto reference implementations for EVTX, USN journal and MFT parsing — the adapter roadmap.</a:t>
            </a:r>
          </a:p>
        </p:txBody>
      </p:sp>
      <p:sp>
        <p:nvSpPr>
          <p:cNvPr id="17450" name="Rounded Rectangle 17449"/>
          <p:cNvSpPr/>
          <p:nvPr/>
        </p:nvSpPr>
        <p:spPr>
          <a:xfrm>
            <a:off x="338328" y="4098340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1" name="TextBox 17450"/>
          <p:cNvSpPr txBox="1"/>
          <p:nvPr/>
        </p:nvSpPr>
        <p:spPr>
          <a:xfrm>
            <a:off x="393192" y="4098340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10.</a:t>
            </a:r>
          </a:p>
        </p:txBody>
      </p:sp>
      <p:sp>
        <p:nvSpPr>
          <p:cNvPr id="17452" name="TextBox 17451"/>
          <p:cNvSpPr txBox="1"/>
          <p:nvPr/>
        </p:nvSpPr>
        <p:spPr>
          <a:xfrm>
            <a:off x="640080" y="4098340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Shannon (1948)</a:t>
            </a:r>
          </a:p>
        </p:txBody>
      </p:sp>
      <p:sp>
        <p:nvSpPr>
          <p:cNvPr id="17453" name="TextBox 17452"/>
          <p:cNvSpPr txBox="1"/>
          <p:nvPr/>
        </p:nvSpPr>
        <p:spPr>
          <a:xfrm>
            <a:off x="2194560" y="4098340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A Mathematical Theory of Communication — basis of the entropy() builtin that separates base64 from prose.</a:t>
            </a:r>
          </a:p>
        </p:txBody>
      </p:sp>
      <p:sp>
        <p:nvSpPr>
          <p:cNvPr id="17454" name="Rounded Rectangle 17453"/>
          <p:cNvSpPr/>
          <p:nvPr/>
        </p:nvSpPr>
        <p:spPr>
          <a:xfrm>
            <a:off x="338328" y="4416551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5" name="TextBox 17454"/>
          <p:cNvSpPr txBox="1"/>
          <p:nvPr/>
        </p:nvSpPr>
        <p:spPr>
          <a:xfrm>
            <a:off x="393192" y="4416551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11.</a:t>
            </a:r>
          </a:p>
        </p:txBody>
      </p:sp>
      <p:sp>
        <p:nvSpPr>
          <p:cNvPr id="17456" name="TextBox 17455"/>
          <p:cNvSpPr txBox="1"/>
          <p:nvPr/>
        </p:nvSpPr>
        <p:spPr>
          <a:xfrm>
            <a:off x="640080" y="4416551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FIPS 180-4</a:t>
            </a:r>
          </a:p>
        </p:txBody>
      </p:sp>
      <p:sp>
        <p:nvSpPr>
          <p:cNvPr id="17457" name="TextBox 17456"/>
          <p:cNvSpPr txBox="1"/>
          <p:nvPr/>
        </p:nvSpPr>
        <p:spPr>
          <a:xfrm>
            <a:off x="2194560" y="4416551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Secure Hash Standard — SHA-256 for every evidence digest and script hash.</a:t>
            </a:r>
          </a:p>
        </p:txBody>
      </p:sp>
      <p:sp>
        <p:nvSpPr>
          <p:cNvPr id="17458" name="Rounded Rectangle 17457"/>
          <p:cNvSpPr/>
          <p:nvPr/>
        </p:nvSpPr>
        <p:spPr>
          <a:xfrm>
            <a:off x="338328" y="4734763"/>
            <a:ext cx="5632704" cy="310896"/>
          </a:xfrm>
          <a:prstGeom prst="roundRect">
            <a:avLst>
              <a:gd name="adj" fmla="val 12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59" name="TextBox 17458"/>
          <p:cNvSpPr txBox="1"/>
          <p:nvPr/>
        </p:nvSpPr>
        <p:spPr>
          <a:xfrm>
            <a:off x="393192" y="4734763"/>
            <a:ext cx="274320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680" b="1" i="0">
                <a:solidFill>
                  <a:srgbClr val="2E75B6"/>
                </a:solidFill>
                <a:latin typeface="Calibri"/>
              </a:rPr>
              <a:t>12.</a:t>
            </a:r>
          </a:p>
        </p:txBody>
      </p:sp>
      <p:sp>
        <p:nvSpPr>
          <p:cNvPr id="17460" name="TextBox 17459"/>
          <p:cNvSpPr txBox="1"/>
          <p:nvPr/>
        </p:nvSpPr>
        <p:spPr>
          <a:xfrm>
            <a:off x="640080" y="4734763"/>
            <a:ext cx="1517904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70" b="1" i="0">
                <a:solidFill>
                  <a:srgbClr val="142B4A"/>
                </a:solidFill>
                <a:latin typeface="Calibri"/>
              </a:rPr>
              <a:t>Python Software Foundation</a:t>
            </a:r>
          </a:p>
        </p:txBody>
      </p:sp>
      <p:sp>
        <p:nvSpPr>
          <p:cNvPr id="17461" name="TextBox 17460"/>
          <p:cNvSpPr txBox="1"/>
          <p:nvPr/>
        </p:nvSpPr>
        <p:spPr>
          <a:xfrm>
            <a:off x="2194560" y="4734763"/>
            <a:ext cx="3730752" cy="3108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20" b="0" i="0">
                <a:solidFill>
                  <a:srgbClr val="1A1A1A"/>
                </a:solidFill>
                <a:latin typeface="Calibri"/>
              </a:rPr>
              <a:t>Standard library only; deliberately no third-party runtime dependency.</a:t>
            </a:r>
          </a:p>
        </p:txBody>
      </p:sp>
      <p:sp>
        <p:nvSpPr>
          <p:cNvPr id="17462" name="TextBox 17461"/>
          <p:cNvSpPr txBox="1"/>
          <p:nvPr/>
        </p:nvSpPr>
        <p:spPr>
          <a:xfrm>
            <a:off x="274320" y="6071616"/>
            <a:ext cx="5760720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620" b="0" i="1">
                <a:solidFill>
                  <a:srgbClr val="7A8A99"/>
                </a:solidFill>
                <a:latin typeface="Calibri"/>
              </a:rPr>
              <a:t>Works JOCKY implements against, or deliberately departs from — no result in this deck depends on an uncited external claim.</a:t>
            </a:r>
          </a:p>
        </p:txBody>
      </p:sp>
      <p:sp>
        <p:nvSpPr>
          <p:cNvPr id="17463" name="Rounded Rectangle 17462"/>
          <p:cNvSpPr/>
          <p:nvPr/>
        </p:nvSpPr>
        <p:spPr>
          <a:xfrm>
            <a:off x="6144768" y="914400"/>
            <a:ext cx="5769864" cy="1298448"/>
          </a:xfrm>
          <a:prstGeom prst="roundRect">
            <a:avLst>
              <a:gd name="adj" fmla="val 6000"/>
            </a:avLst>
          </a:prstGeom>
          <a:solidFill>
            <a:srgbClr val="EEF4FB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4" name="Rounded Rectangle 17463"/>
          <p:cNvSpPr/>
          <p:nvPr/>
        </p:nvSpPr>
        <p:spPr>
          <a:xfrm>
            <a:off x="6144768" y="914400"/>
            <a:ext cx="5769864" cy="274320"/>
          </a:xfrm>
          <a:prstGeom prst="roundRect">
            <a:avLst>
              <a:gd name="adj" fmla="val 1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65" name="TextBox 17464"/>
          <p:cNvSpPr txBox="1"/>
          <p:nvPr/>
        </p:nvSpPr>
        <p:spPr>
          <a:xfrm>
            <a:off x="6236207" y="928115"/>
            <a:ext cx="5586983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ARTEFACTS</a:t>
            </a:r>
          </a:p>
        </p:txBody>
      </p:sp>
      <p:sp>
        <p:nvSpPr>
          <p:cNvPr id="17466" name="TextBox 17465"/>
          <p:cNvSpPr txBox="1"/>
          <p:nvPr/>
        </p:nvSpPr>
        <p:spPr>
          <a:xfrm>
            <a:off x="6245352" y="1234439"/>
            <a:ext cx="1316736" cy="1965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700" b="1" i="0">
                <a:solidFill>
                  <a:srgbClr val="1F4E79"/>
                </a:solidFill>
                <a:latin typeface="Consolas"/>
              </a:rPr>
              <a:t>jocky/</a:t>
            </a:r>
          </a:p>
        </p:txBody>
      </p:sp>
      <p:sp>
        <p:nvSpPr>
          <p:cNvPr id="17467" name="TextBox 17466"/>
          <p:cNvSpPr txBox="1"/>
          <p:nvPr/>
        </p:nvSpPr>
        <p:spPr>
          <a:xfrm>
            <a:off x="7607808" y="1234439"/>
            <a:ext cx="4197096" cy="1965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50" b="0" i="0">
                <a:solidFill>
                  <a:srgbClr val="1A1A1A"/>
                </a:solidFill>
                <a:latin typeface="Calibri"/>
              </a:rPr>
              <a:t>lexer.py · parser.py · runtime.py · builtins.py · cli.py · serve.py</a:t>
            </a:r>
          </a:p>
        </p:txBody>
      </p:sp>
      <p:sp>
        <p:nvSpPr>
          <p:cNvPr id="17468" name="TextBox 17467"/>
          <p:cNvSpPr txBox="1"/>
          <p:nvPr/>
        </p:nvSpPr>
        <p:spPr>
          <a:xfrm>
            <a:off x="6245352" y="1437436"/>
            <a:ext cx="1316736" cy="1965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700" b="1" i="0">
                <a:solidFill>
                  <a:srgbClr val="1F4E79"/>
                </a:solidFill>
                <a:latin typeface="Consolas"/>
              </a:rPr>
              <a:t>console/index.html</a:t>
            </a:r>
          </a:p>
        </p:txBody>
      </p:sp>
      <p:sp>
        <p:nvSpPr>
          <p:cNvPr id="17469" name="TextBox 17468"/>
          <p:cNvSpPr txBox="1"/>
          <p:nvPr/>
        </p:nvSpPr>
        <p:spPr>
          <a:xfrm>
            <a:off x="7607808" y="1437436"/>
            <a:ext cx="4197096" cy="1965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50" b="0" i="0">
                <a:solidFill>
                  <a:srgbClr val="1A1A1A"/>
                </a:solidFill>
                <a:latin typeface="Calibri"/>
              </a:rPr>
              <a:t>operator console — seven tabs, no external assets, no build step</a:t>
            </a:r>
          </a:p>
        </p:txBody>
      </p:sp>
      <p:sp>
        <p:nvSpPr>
          <p:cNvPr id="17470" name="TextBox 17469"/>
          <p:cNvSpPr txBox="1"/>
          <p:nvPr/>
        </p:nvSpPr>
        <p:spPr>
          <a:xfrm>
            <a:off x="6245352" y="1640433"/>
            <a:ext cx="1316736" cy="1965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700" b="1" i="0">
                <a:solidFill>
                  <a:srgbClr val="1F4E79"/>
                </a:solidFill>
                <a:latin typeface="Consolas"/>
              </a:rPr>
              <a:t>scripts/*.jky</a:t>
            </a:r>
          </a:p>
        </p:txBody>
      </p:sp>
      <p:sp>
        <p:nvSpPr>
          <p:cNvPr id="17471" name="TextBox 17470"/>
          <p:cNvSpPr txBox="1"/>
          <p:nvPr/>
        </p:nvSpPr>
        <p:spPr>
          <a:xfrm>
            <a:off x="7607808" y="1640433"/>
            <a:ext cx="4197096" cy="1965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50" b="0" i="0">
                <a:solidFill>
                  <a:srgbClr val="1A1A1A"/>
                </a:solidFill>
                <a:latin typeface="Calibri"/>
              </a:rPr>
              <a:t>beacon_hunt · triage · insider_usb · telemetry_audit</a:t>
            </a:r>
          </a:p>
        </p:txBody>
      </p:sp>
      <p:sp>
        <p:nvSpPr>
          <p:cNvPr id="17472" name="TextBox 17471"/>
          <p:cNvSpPr txBox="1"/>
          <p:nvPr/>
        </p:nvSpPr>
        <p:spPr>
          <a:xfrm>
            <a:off x="6245352" y="1843430"/>
            <a:ext cx="1316736" cy="1965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700" b="1" i="0">
                <a:solidFill>
                  <a:srgbClr val="1F4E79"/>
                </a:solidFill>
                <a:latin typeface="Consolas"/>
              </a:rPr>
              <a:t>evidence/</a:t>
            </a:r>
          </a:p>
        </p:txBody>
      </p:sp>
      <p:sp>
        <p:nvSpPr>
          <p:cNvPr id="17473" name="TextBox 17472"/>
          <p:cNvSpPr txBox="1"/>
          <p:nvPr/>
        </p:nvSpPr>
        <p:spPr>
          <a:xfrm>
            <a:off x="7607808" y="1843430"/>
            <a:ext cx="4197096" cy="196596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>
              <a:lnSpc>
                <a:spcPct val="86000"/>
              </a:lnSpc>
            </a:pPr>
            <a:r>
              <a:rPr sz="650" b="0" i="0">
                <a:solidFill>
                  <a:srgbClr val="1A1A1A"/>
                </a:solidFill>
                <a:latin typeface="Calibri"/>
              </a:rPr>
              <a:t>one coherent synthetic incident on FIN-WS-014, 2026-09-21</a:t>
            </a:r>
          </a:p>
        </p:txBody>
      </p:sp>
      <p:sp>
        <p:nvSpPr>
          <p:cNvPr id="17474" name="TextBox 17473"/>
          <p:cNvSpPr txBox="1"/>
          <p:nvPr/>
        </p:nvSpPr>
        <p:spPr>
          <a:xfrm>
            <a:off x="6245352" y="2029968"/>
            <a:ext cx="5568696" cy="16459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88000"/>
              </a:lnSpc>
            </a:pPr>
            <a:r>
              <a:rPr sz="620" b="0" i="1">
                <a:solidFill>
                  <a:srgbClr val="C0392B"/>
                </a:solidFill>
                <a:latin typeface="Calibri"/>
              </a:rPr>
              <a:t>Repository and demo links: ⟨ paste before upload ⟩ — the whole prototype runs from one checkout with no install step.</a:t>
            </a:r>
          </a:p>
        </p:txBody>
      </p:sp>
      <p:sp>
        <p:nvSpPr>
          <p:cNvPr id="17475" name="Rounded Rectangle 17474"/>
          <p:cNvSpPr/>
          <p:nvPr/>
        </p:nvSpPr>
        <p:spPr>
          <a:xfrm>
            <a:off x="6144768" y="2304288"/>
            <a:ext cx="5769864" cy="1975104"/>
          </a:xfrm>
          <a:prstGeom prst="roundRect">
            <a:avLst>
              <a:gd name="adj" fmla="val 6000"/>
            </a:avLst>
          </a:prstGeom>
          <a:solidFill>
            <a:srgbClr val="EFEAF7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6" name="Rounded Rectangle 17475"/>
          <p:cNvSpPr/>
          <p:nvPr/>
        </p:nvSpPr>
        <p:spPr>
          <a:xfrm>
            <a:off x="6144768" y="2304288"/>
            <a:ext cx="5769864" cy="274320"/>
          </a:xfrm>
          <a:prstGeom prst="roundRect">
            <a:avLst>
              <a:gd name="adj" fmla="val 1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77" name="TextBox 17476"/>
          <p:cNvSpPr txBox="1"/>
          <p:nvPr/>
        </p:nvSpPr>
        <p:spPr>
          <a:xfrm>
            <a:off x="6236207" y="2318004"/>
            <a:ext cx="5586983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RESEARCH CONTRIBUTION &amp; CORE FINDINGS</a:t>
            </a:r>
          </a:p>
        </p:txBody>
      </p:sp>
      <p:sp>
        <p:nvSpPr>
          <p:cNvPr id="17478" name="TextBox 17477"/>
          <p:cNvSpPr txBox="1"/>
          <p:nvPr/>
        </p:nvSpPr>
        <p:spPr>
          <a:xfrm>
            <a:off x="6245352" y="2624328"/>
            <a:ext cx="5568696" cy="1609344"/>
          </a:xfrm>
          <a:prstGeom prst="rect">
            <a:avLst/>
          </a:prstGeom>
          <a:noFill/>
        </p:spPr>
        <p:txBody>
          <a:bodyPr wrap="square" anchor="t" lIns="45720" rIns="45720" tIns="18288" bIns="18288">
            <a:noAutofit/>
          </a:bodyPr>
          <a:lstStyle/>
          <a:p>
            <a:pPr algn="l">
              <a:lnSpc>
                <a:spcPct val="96000"/>
              </a:lnSpc>
              <a:spcAft>
                <a:spcPts val="280"/>
              </a:spcAft>
            </a:pPr>
            <a:r>
              <a:rPr sz="65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650" b="1" i="0">
                <a:solidFill>
                  <a:srgbClr val="6A4C93"/>
                </a:solidFill>
                <a:latin typeface="Calibri"/>
              </a:rPr>
              <a:t>Provenance can be a grammar rule, not a discipline. </a:t>
            </a:r>
            <a:r>
              <a:rPr sz="650" b="0" i="0">
                <a:solidFill>
                  <a:srgbClr val="1A1A1A"/>
                </a:solidFill>
                <a:latin typeface="Calibri"/>
              </a:rPr>
              <a:t>Requiring a finding to name the result set that raised it makes an uncited conclusion a parse error rather than a bad habit — the contribution this work claims is that formulation.</a:t>
            </a:r>
          </a:p>
          <a:p>
            <a:pPr algn="l">
              <a:lnSpc>
                <a:spcPct val="96000"/>
              </a:lnSpc>
              <a:spcAft>
                <a:spcPts val="280"/>
              </a:spcAft>
            </a:pPr>
            <a:r>
              <a:rPr sz="65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650" b="1" i="0">
                <a:solidFill>
                  <a:srgbClr val="6A4C93"/>
                </a:solidFill>
                <a:latin typeface="Calibri"/>
              </a:rPr>
              <a:t>The interpreter envelope is measured. </a:t>
            </a:r>
            <a:r>
              <a:rPr sz="650" b="0" i="0">
                <a:solidFill>
                  <a:srgbClr val="1A1A1A"/>
                </a:solidFill>
                <a:latin typeface="Calibri"/>
              </a:rPr>
              <a:t>5.1k–7.4k records/sec, linear memory, 20–26× over hand-written Python — which bounds the right workload to triage sets and names the next milestone.</a:t>
            </a:r>
          </a:p>
          <a:p>
            <a:pPr algn="l">
              <a:lnSpc>
                <a:spcPct val="96000"/>
              </a:lnSpc>
              <a:spcAft>
                <a:spcPts val="280"/>
              </a:spcAft>
            </a:pPr>
            <a:r>
              <a:rPr sz="65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650" b="1" i="0">
                <a:solidFill>
                  <a:srgbClr val="6A4C93"/>
                </a:solidFill>
                <a:latin typeface="Calibri"/>
              </a:rPr>
              <a:t>Compilation cost is volume-independent. </a:t>
            </a:r>
            <a:r>
              <a:rPr sz="650" b="0" i="0">
                <a:solidFill>
                  <a:srgbClr val="1A1A1A"/>
                </a:solidFill>
                <a:latin typeface="Calibri"/>
              </a:rPr>
              <a:t>Lex + parse held at 2.2–3.1 ms from 10³ to 10⁵ records, separating script complexity from data volume as cost centres.</a:t>
            </a:r>
          </a:p>
          <a:p>
            <a:pPr algn="l">
              <a:lnSpc>
                <a:spcPct val="96000"/>
              </a:lnSpc>
              <a:spcAft>
                <a:spcPts val="280"/>
              </a:spcAft>
            </a:pPr>
            <a:r>
              <a:rPr sz="65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650" b="1" i="0">
                <a:solidFill>
                  <a:srgbClr val="6A4C93"/>
                </a:solidFill>
                <a:latin typeface="Calibri"/>
              </a:rPr>
              <a:t>“Without triggering security solutions”, read defensibly. </a:t>
            </a:r>
            <a:r>
              <a:rPr sz="650" b="0" i="0">
                <a:solidFill>
                  <a:srgbClr val="1A1A1A"/>
                </a:solidFill>
                <a:latin typeface="Calibri"/>
              </a:rPr>
              <a:t>A tool that hides from EDR is indistinguishable from malware to the endpoint's own evidence. Compatibility engineering — signed builds, published hashes, vendor allowlisting, documented telemetry — is the reading that survives an audit.</a:t>
            </a:r>
          </a:p>
          <a:p>
            <a:pPr algn="l">
              <a:lnSpc>
                <a:spcPct val="96000"/>
              </a:lnSpc>
              <a:spcAft>
                <a:spcPts val="280"/>
              </a:spcAft>
            </a:pPr>
            <a:r>
              <a:rPr sz="650" b="1" i="0">
                <a:solidFill>
                  <a:srgbClr val="6A4C93"/>
                </a:solidFill>
                <a:latin typeface="Calibri"/>
              </a:rPr>
              <a:t>▪  </a:t>
            </a:r>
            <a:r>
              <a:rPr sz="650" b="1" i="0">
                <a:solidFill>
                  <a:srgbClr val="6A4C93"/>
                </a:solidFill>
                <a:latin typeface="Calibri"/>
              </a:rPr>
              <a:t>Forensic text breaks conventional lexing. </a:t>
            </a:r>
            <a:r>
              <a:rPr sz="650" b="0" i="0">
                <a:solidFill>
                  <a:srgbClr val="1A1A1A"/>
                </a:solidFill>
                <a:latin typeface="Calibri"/>
              </a:rPr>
              <a:t>Windows paths, regex and base64 force a minimal escape set; the textbook escape table silently turned \Temp into a tab. Found by test, fixed by design.</a:t>
            </a:r>
          </a:p>
        </p:txBody>
      </p:sp>
      <p:sp>
        <p:nvSpPr>
          <p:cNvPr id="17479" name="Rounded Rectangle 17478"/>
          <p:cNvSpPr/>
          <p:nvPr/>
        </p:nvSpPr>
        <p:spPr>
          <a:xfrm>
            <a:off x="6144768" y="4370832"/>
            <a:ext cx="5769864" cy="1664208"/>
          </a:xfrm>
          <a:prstGeom prst="roundRect">
            <a:avLst>
              <a:gd name="adj" fmla="val 6000"/>
            </a:avLst>
          </a:prstGeom>
          <a:solidFill>
            <a:srgbClr val="E3F2E4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0" name="Rounded Rectangle 17479"/>
          <p:cNvSpPr/>
          <p:nvPr/>
        </p:nvSpPr>
        <p:spPr>
          <a:xfrm>
            <a:off x="6144768" y="4370832"/>
            <a:ext cx="5769864" cy="274320"/>
          </a:xfrm>
          <a:prstGeom prst="roundRect">
            <a:avLst>
              <a:gd name="adj" fmla="val 1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1" name="TextBox 17480"/>
          <p:cNvSpPr txBox="1"/>
          <p:nvPr/>
        </p:nvSpPr>
        <p:spPr>
          <a:xfrm>
            <a:off x="6236207" y="4384548"/>
            <a:ext cx="5586983" cy="246888"/>
          </a:xfrm>
          <a:prstGeom prst="rect">
            <a:avLst/>
          </a:prstGeom>
          <a:noFill/>
        </p:spPr>
        <p:txBody>
          <a:bodyPr wrap="square" anchor="ctr" lIns="0" rIns="0" tIns="0" bIns="0">
            <a:no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RESEARCH METHODOLOGY &amp; EVOLUTION PIPELINE</a:t>
            </a:r>
          </a:p>
        </p:txBody>
      </p:sp>
      <p:sp>
        <p:nvSpPr>
          <p:cNvPr id="17482" name="Rounded Rectangle 17481"/>
          <p:cNvSpPr/>
          <p:nvPr/>
        </p:nvSpPr>
        <p:spPr>
          <a:xfrm>
            <a:off x="6245352" y="4736592"/>
            <a:ext cx="13304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3" name="TextBox 17482"/>
          <p:cNvSpPr txBox="1"/>
          <p:nvPr/>
        </p:nvSpPr>
        <p:spPr>
          <a:xfrm>
            <a:off x="6281928" y="4882896"/>
            <a:ext cx="1257300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sz="590" b="0" i="0">
                <a:solidFill>
                  <a:srgbClr val="1A1A1A"/>
                </a:solidFill>
                <a:latin typeface="Calibri"/>
              </a:rPr>
              <a:t>tool sprawl, no provenance, AV friction</a:t>
            </a:r>
          </a:p>
        </p:txBody>
      </p:sp>
      <p:sp>
        <p:nvSpPr>
          <p:cNvPr id="17484" name="Rounded Rectangle 17483"/>
          <p:cNvSpPr/>
          <p:nvPr/>
        </p:nvSpPr>
        <p:spPr>
          <a:xfrm>
            <a:off x="7680960" y="4736592"/>
            <a:ext cx="13304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5" name="TextBox 17484"/>
          <p:cNvSpPr txBox="1"/>
          <p:nvPr/>
        </p:nvSpPr>
        <p:spPr>
          <a:xfrm>
            <a:off x="7717536" y="4882896"/>
            <a:ext cx="1257300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sz="590" b="0" i="0">
                <a:solidFill>
                  <a:srgbClr val="1A1A1A"/>
                </a:solidFill>
                <a:latin typeface="Calibri"/>
              </a:rPr>
              <a:t>NIST 800-86 · RFC 3227 · ISO 27037</a:t>
            </a:r>
          </a:p>
        </p:txBody>
      </p:sp>
      <p:sp>
        <p:nvSpPr>
          <p:cNvPr id="17486" name="Rounded Rectangle 17485"/>
          <p:cNvSpPr/>
          <p:nvPr/>
        </p:nvSpPr>
        <p:spPr>
          <a:xfrm>
            <a:off x="9116568" y="4736592"/>
            <a:ext cx="13304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7" name="TextBox 17486"/>
          <p:cNvSpPr txBox="1"/>
          <p:nvPr/>
        </p:nvSpPr>
        <p:spPr>
          <a:xfrm>
            <a:off x="9153144" y="4882896"/>
            <a:ext cx="1257300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sz="590" b="0" i="0">
                <a:solidFill>
                  <a:srgbClr val="1A1A1A"/>
                </a:solidFill>
                <a:latin typeface="Calibri"/>
              </a:rPr>
              <a:t>Sigma detects, VQL queries — neither cites</a:t>
            </a:r>
          </a:p>
        </p:txBody>
      </p:sp>
      <p:sp>
        <p:nvSpPr>
          <p:cNvPr id="17488" name="Rounded Rectangle 17487"/>
          <p:cNvSpPr/>
          <p:nvPr/>
        </p:nvSpPr>
        <p:spPr>
          <a:xfrm>
            <a:off x="10552176" y="4736592"/>
            <a:ext cx="13304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89" name="TextBox 17488"/>
          <p:cNvSpPr txBox="1"/>
          <p:nvPr/>
        </p:nvSpPr>
        <p:spPr>
          <a:xfrm>
            <a:off x="10588751" y="4882896"/>
            <a:ext cx="1257300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sz="590" b="0" i="0">
                <a:solidFill>
                  <a:srgbClr val="1A1A1A"/>
                </a:solidFill>
                <a:latin typeface="Calibri"/>
              </a:rPr>
              <a:t>pipeline stages, minimal escapes, plain-dict AST</a:t>
            </a:r>
          </a:p>
        </p:txBody>
      </p:sp>
      <p:sp>
        <p:nvSpPr>
          <p:cNvPr id="17490" name="Rounded Rectangle 17489"/>
          <p:cNvSpPr/>
          <p:nvPr/>
        </p:nvSpPr>
        <p:spPr>
          <a:xfrm>
            <a:off x="10552176" y="5431536"/>
            <a:ext cx="13304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1" name="TextBox 17490"/>
          <p:cNvSpPr txBox="1"/>
          <p:nvPr/>
        </p:nvSpPr>
        <p:spPr>
          <a:xfrm>
            <a:off x="10588751" y="5577840"/>
            <a:ext cx="1257300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sz="590" b="0" i="0">
                <a:solidFill>
                  <a:srgbClr val="1A1A1A"/>
                </a:solidFill>
                <a:latin typeface="Calibri"/>
              </a:rPr>
              <a:t>lexer → parser → interpreter, 0 deps</a:t>
            </a:r>
          </a:p>
        </p:txBody>
      </p:sp>
      <p:sp>
        <p:nvSpPr>
          <p:cNvPr id="17492" name="Rounded Rectangle 17491"/>
          <p:cNvSpPr/>
          <p:nvPr/>
        </p:nvSpPr>
        <p:spPr>
          <a:xfrm>
            <a:off x="9116568" y="5431536"/>
            <a:ext cx="13304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3" name="TextBox 17492"/>
          <p:cNvSpPr txBox="1"/>
          <p:nvPr/>
        </p:nvSpPr>
        <p:spPr>
          <a:xfrm>
            <a:off x="9153144" y="5577840"/>
            <a:ext cx="1257300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sz="590" b="0" i="0">
                <a:solidFill>
                  <a:srgbClr val="1A1A1A"/>
                </a:solidFill>
                <a:latin typeface="Calibri"/>
              </a:rPr>
              <a:t>50 tests · benchmarked 10³–10⁵ records</a:t>
            </a:r>
          </a:p>
        </p:txBody>
      </p:sp>
      <p:sp>
        <p:nvSpPr>
          <p:cNvPr id="17494" name="Rounded Rectangle 17493"/>
          <p:cNvSpPr/>
          <p:nvPr/>
        </p:nvSpPr>
        <p:spPr>
          <a:xfrm>
            <a:off x="7680960" y="5431536"/>
            <a:ext cx="13304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5" name="TextBox 17494"/>
          <p:cNvSpPr txBox="1"/>
          <p:nvPr/>
        </p:nvSpPr>
        <p:spPr>
          <a:xfrm>
            <a:off x="7717536" y="5577840"/>
            <a:ext cx="1257300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sz="590" b="0" i="0">
                <a:solidFill>
                  <a:srgbClr val="1A1A1A"/>
                </a:solidFill>
                <a:latin typeface="Calibri"/>
              </a:rPr>
              <a:t>lexer escape bug, case-override semantics fixed</a:t>
            </a:r>
          </a:p>
        </p:txBody>
      </p:sp>
      <p:sp>
        <p:nvSpPr>
          <p:cNvPr id="17496" name="Rounded Rectangle 17495"/>
          <p:cNvSpPr/>
          <p:nvPr/>
        </p:nvSpPr>
        <p:spPr>
          <a:xfrm>
            <a:off x="6245352" y="5431536"/>
            <a:ext cx="1330452" cy="5120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B4C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7" name="TextBox 17496"/>
          <p:cNvSpPr txBox="1"/>
          <p:nvPr/>
        </p:nvSpPr>
        <p:spPr>
          <a:xfrm>
            <a:off x="6281928" y="5577840"/>
            <a:ext cx="1257300" cy="329184"/>
          </a:xfrm>
          <a:prstGeom prst="rect">
            <a:avLst/>
          </a:prstGeom>
          <a:noFill/>
        </p:spPr>
        <p:txBody>
          <a:bodyPr wrap="square" anchor="ctr" lIns="18288" rIns="18288" tIns="0" bIns="0">
            <a:noAutofit/>
          </a:bodyPr>
          <a:lstStyle/>
          <a:p>
            <a:pPr algn="ctr">
              <a:lnSpc>
                <a:spcPct val="88000"/>
              </a:lnSpc>
            </a:pPr>
            <a:r>
              <a:rPr sz="590" b="0" i="0">
                <a:solidFill>
                  <a:srgbClr val="1A1A1A"/>
                </a:solidFill>
                <a:latin typeface="Calibri"/>
              </a:rPr>
              <a:t>bytecode VM · EVTX/USN/MFT · ATT&amp;CK · fleet</a:t>
            </a:r>
          </a:p>
        </p:txBody>
      </p:sp>
      <p:sp>
        <p:nvSpPr>
          <p:cNvPr id="17498" name="Right Arrow 17497"/>
          <p:cNvSpPr/>
          <p:nvPr/>
        </p:nvSpPr>
        <p:spPr>
          <a:xfrm>
            <a:off x="7586776" y="4954219"/>
            <a:ext cx="83210" cy="77724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499" name="Right Arrow 17498"/>
          <p:cNvSpPr/>
          <p:nvPr/>
        </p:nvSpPr>
        <p:spPr>
          <a:xfrm>
            <a:off x="9022384" y="4954219"/>
            <a:ext cx="83210" cy="77724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0" name="Right Arrow 17499"/>
          <p:cNvSpPr/>
          <p:nvPr/>
        </p:nvSpPr>
        <p:spPr>
          <a:xfrm>
            <a:off x="10457992" y="4954219"/>
            <a:ext cx="83210" cy="77724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1" name="Down Arrow 17500"/>
          <p:cNvSpPr/>
          <p:nvPr/>
        </p:nvSpPr>
        <p:spPr>
          <a:xfrm>
            <a:off x="11167109" y="5262372"/>
            <a:ext cx="100584" cy="155448"/>
          </a:xfrm>
          <a:prstGeom prst="down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2" name="Right Arrow 17501"/>
          <p:cNvSpPr/>
          <p:nvPr/>
        </p:nvSpPr>
        <p:spPr>
          <a:xfrm>
            <a:off x="10457992" y="5649163"/>
            <a:ext cx="83210" cy="77724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3" name="Right Arrow 17502"/>
          <p:cNvSpPr/>
          <p:nvPr/>
        </p:nvSpPr>
        <p:spPr>
          <a:xfrm>
            <a:off x="9022384" y="5649163"/>
            <a:ext cx="83210" cy="77724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4" name="Right Arrow 17503"/>
          <p:cNvSpPr/>
          <p:nvPr/>
        </p:nvSpPr>
        <p:spPr>
          <a:xfrm>
            <a:off x="7586776" y="5649163"/>
            <a:ext cx="83210" cy="77724"/>
          </a:xfrm>
          <a:prstGeom prst="rightArrow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5" name="Rounded Rectangle 17504"/>
          <p:cNvSpPr/>
          <p:nvPr/>
        </p:nvSpPr>
        <p:spPr>
          <a:xfrm>
            <a:off x="6245352" y="4736592"/>
            <a:ext cx="1330452" cy="141732"/>
          </a:xfrm>
          <a:prstGeom prst="roundRect">
            <a:avLst>
              <a:gd name="adj" fmla="val 36000"/>
            </a:avLst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6" name="TextBox 17505"/>
          <p:cNvSpPr txBox="1"/>
          <p:nvPr/>
        </p:nvSpPr>
        <p:spPr>
          <a:xfrm>
            <a:off x="6245352" y="4732020"/>
            <a:ext cx="1330452" cy="15087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sz="590" b="1" i="0">
                <a:solidFill>
                  <a:srgbClr val="FFFFFF"/>
                </a:solidFill>
                <a:latin typeface="Calibri"/>
              </a:rPr>
              <a:t>Problem Identification</a:t>
            </a:r>
          </a:p>
        </p:txBody>
      </p:sp>
      <p:sp>
        <p:nvSpPr>
          <p:cNvPr id="17507" name="Rounded Rectangle 17506"/>
          <p:cNvSpPr/>
          <p:nvPr/>
        </p:nvSpPr>
        <p:spPr>
          <a:xfrm>
            <a:off x="7680960" y="4736592"/>
            <a:ext cx="1330452" cy="141732"/>
          </a:xfrm>
          <a:prstGeom prst="roundRect">
            <a:avLst>
              <a:gd name="adj" fmla="val 36000"/>
            </a:avLst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08" name="TextBox 17507"/>
          <p:cNvSpPr txBox="1"/>
          <p:nvPr/>
        </p:nvSpPr>
        <p:spPr>
          <a:xfrm>
            <a:off x="7680960" y="4732020"/>
            <a:ext cx="1330452" cy="15087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sz="590" b="1" i="0">
                <a:solidFill>
                  <a:srgbClr val="FFFFFF"/>
                </a:solidFill>
                <a:latin typeface="Calibri"/>
              </a:rPr>
              <a:t>Standards Review</a:t>
            </a:r>
          </a:p>
        </p:txBody>
      </p:sp>
      <p:sp>
        <p:nvSpPr>
          <p:cNvPr id="17509" name="Rounded Rectangle 17508"/>
          <p:cNvSpPr/>
          <p:nvPr/>
        </p:nvSpPr>
        <p:spPr>
          <a:xfrm>
            <a:off x="9116568" y="4736592"/>
            <a:ext cx="1330452" cy="141732"/>
          </a:xfrm>
          <a:prstGeom prst="roundRect">
            <a:avLst>
              <a:gd name="adj" fmla="val 36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0" name="TextBox 17509"/>
          <p:cNvSpPr txBox="1"/>
          <p:nvPr/>
        </p:nvSpPr>
        <p:spPr>
          <a:xfrm>
            <a:off x="9116568" y="4732020"/>
            <a:ext cx="1330452" cy="15087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sz="590" b="1" i="0">
                <a:solidFill>
                  <a:srgbClr val="FFFFFF"/>
                </a:solidFill>
                <a:latin typeface="Calibri"/>
              </a:rPr>
              <a:t>Prior-Art Gap Analysis</a:t>
            </a:r>
          </a:p>
        </p:txBody>
      </p:sp>
      <p:sp>
        <p:nvSpPr>
          <p:cNvPr id="17511" name="Rounded Rectangle 17510"/>
          <p:cNvSpPr/>
          <p:nvPr/>
        </p:nvSpPr>
        <p:spPr>
          <a:xfrm>
            <a:off x="10552176" y="4736592"/>
            <a:ext cx="1330452" cy="141732"/>
          </a:xfrm>
          <a:prstGeom prst="roundRect">
            <a:avLst>
              <a:gd name="adj" fmla="val 36000"/>
            </a:avLst>
          </a:prstGeom>
          <a:solidFill>
            <a:srgbClr val="006A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2" name="TextBox 17511"/>
          <p:cNvSpPr txBox="1"/>
          <p:nvPr/>
        </p:nvSpPr>
        <p:spPr>
          <a:xfrm>
            <a:off x="10552176" y="4732020"/>
            <a:ext cx="1330452" cy="15087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sz="590" b="1" i="0">
                <a:solidFill>
                  <a:srgbClr val="FFFFFF"/>
                </a:solidFill>
                <a:latin typeface="Calibri"/>
              </a:rPr>
              <a:t>Language Design</a:t>
            </a:r>
          </a:p>
        </p:txBody>
      </p:sp>
      <p:sp>
        <p:nvSpPr>
          <p:cNvPr id="17513" name="Rounded Rectangle 17512"/>
          <p:cNvSpPr/>
          <p:nvPr/>
        </p:nvSpPr>
        <p:spPr>
          <a:xfrm>
            <a:off x="10552176" y="5431536"/>
            <a:ext cx="1330452" cy="141732"/>
          </a:xfrm>
          <a:prstGeom prst="roundRect">
            <a:avLst>
              <a:gd name="adj" fmla="val 36000"/>
            </a:avLst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4" name="TextBox 17513"/>
          <p:cNvSpPr txBox="1"/>
          <p:nvPr/>
        </p:nvSpPr>
        <p:spPr>
          <a:xfrm>
            <a:off x="10552176" y="5426964"/>
            <a:ext cx="1330452" cy="15087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sz="590" b="1" i="0">
                <a:solidFill>
                  <a:srgbClr val="FFFFFF"/>
                </a:solidFill>
                <a:latin typeface="Calibri"/>
              </a:rPr>
              <a:t>Reference Implementation</a:t>
            </a:r>
          </a:p>
        </p:txBody>
      </p:sp>
      <p:sp>
        <p:nvSpPr>
          <p:cNvPr id="17515" name="Rounded Rectangle 17514"/>
          <p:cNvSpPr/>
          <p:nvPr/>
        </p:nvSpPr>
        <p:spPr>
          <a:xfrm>
            <a:off x="9116568" y="5431536"/>
            <a:ext cx="1330452" cy="141732"/>
          </a:xfrm>
          <a:prstGeom prst="roundRect">
            <a:avLst>
              <a:gd name="adj" fmla="val 36000"/>
            </a:avLst>
          </a:prstGeom>
          <a:solidFill>
            <a:srgbClr val="B26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6" name="TextBox 17515"/>
          <p:cNvSpPr txBox="1"/>
          <p:nvPr/>
        </p:nvSpPr>
        <p:spPr>
          <a:xfrm>
            <a:off x="9116568" y="5426964"/>
            <a:ext cx="1330452" cy="15087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sz="590" b="1" i="0">
                <a:solidFill>
                  <a:srgbClr val="FFFFFF"/>
                </a:solidFill>
                <a:latin typeface="Calibri"/>
              </a:rPr>
              <a:t>Empirical Validation</a:t>
            </a:r>
          </a:p>
        </p:txBody>
      </p:sp>
      <p:sp>
        <p:nvSpPr>
          <p:cNvPr id="17517" name="Rounded Rectangle 17516"/>
          <p:cNvSpPr/>
          <p:nvPr/>
        </p:nvSpPr>
        <p:spPr>
          <a:xfrm>
            <a:off x="7680960" y="5431536"/>
            <a:ext cx="1330452" cy="141732"/>
          </a:xfrm>
          <a:prstGeom prst="roundRect">
            <a:avLst>
              <a:gd name="adj" fmla="val 36000"/>
            </a:avLst>
          </a:prstGeom>
          <a:solidFill>
            <a:srgbClr val="B32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18" name="TextBox 17517"/>
          <p:cNvSpPr txBox="1"/>
          <p:nvPr/>
        </p:nvSpPr>
        <p:spPr>
          <a:xfrm>
            <a:off x="7680960" y="5426964"/>
            <a:ext cx="1330452" cy="15087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sz="590" b="1" i="0">
                <a:solidFill>
                  <a:srgbClr val="FFFFFF"/>
                </a:solidFill>
                <a:latin typeface="Calibri"/>
              </a:rPr>
              <a:t>Adversarial Review</a:t>
            </a:r>
          </a:p>
        </p:txBody>
      </p:sp>
      <p:sp>
        <p:nvSpPr>
          <p:cNvPr id="17519" name="Rounded Rectangle 17518"/>
          <p:cNvSpPr/>
          <p:nvPr/>
        </p:nvSpPr>
        <p:spPr>
          <a:xfrm>
            <a:off x="6245352" y="5431536"/>
            <a:ext cx="1330452" cy="141732"/>
          </a:xfrm>
          <a:prstGeom prst="roundRect">
            <a:avLst>
              <a:gd name="adj" fmla="val 36000"/>
            </a:avLst>
          </a:prstGeom>
          <a:solidFill>
            <a:srgbClr val="142B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520" name="TextBox 17519"/>
          <p:cNvSpPr txBox="1"/>
          <p:nvPr/>
        </p:nvSpPr>
        <p:spPr>
          <a:xfrm>
            <a:off x="6245352" y="5426964"/>
            <a:ext cx="1330452" cy="150876"/>
          </a:xfrm>
          <a:prstGeom prst="rect">
            <a:avLst/>
          </a:prstGeom>
          <a:noFill/>
        </p:spPr>
        <p:txBody>
          <a:bodyPr wrap="square" anchor="ctr" lIns="9144" rIns="9144" tIns="0" bIns="0">
            <a:noAutofit/>
          </a:bodyPr>
          <a:lstStyle/>
          <a:p>
            <a:pPr algn="ctr">
              <a:lnSpc>
                <a:spcPct val="82000"/>
              </a:lnSpc>
            </a:pPr>
            <a:r>
              <a:rPr sz="590" b="1" i="0">
                <a:solidFill>
                  <a:srgbClr val="FFFFFF"/>
                </a:solidFill>
                <a:latin typeface="Calibri"/>
              </a:rPr>
              <a:t>Evolution Pipeline</a:t>
            </a:r>
          </a:p>
        </p:txBody>
      </p:sp>
      <p:sp>
        <p:nvSpPr>
          <p:cNvPr id="17521" name="TextBox 17520"/>
          <p:cNvSpPr txBox="1"/>
          <p:nvPr/>
        </p:nvSpPr>
        <p:spPr>
          <a:xfrm>
            <a:off x="6144768" y="6071616"/>
            <a:ext cx="5769864" cy="1828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90000"/>
              </a:lnSpc>
            </a:pPr>
            <a:r>
              <a:rPr sz="620" b="0" i="1">
                <a:solidFill>
                  <a:srgbClr val="7A8A99"/>
                </a:solidFill>
                <a:latin typeface="Calibri"/>
              </a:rPr>
              <a:t>Prototype, benchmark harness, evidence set and test suite are all in the submitted repository.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